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5e5b1b46c74021" /><Relationship Type="http://schemas.openxmlformats.org/officeDocument/2006/relationships/extended-properties" Target="/docProps/app.xml" Id="R54df3cf3e1594b76" /><Relationship Type="http://schemas.openxmlformats.org/officeDocument/2006/relationships/officeDocument" Target="/ppt/presentation.xml" Id="Rc7492363e55848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df590ed6324d3f"/>
  </p:sldMasterIdLst>
  <p:notesMasterIdLst>
    <p:notesMasterId xmlns:r="http://schemas.openxmlformats.org/officeDocument/2006/relationships" r:id="R41a60615402145a6"/>
  </p:notesMasterIdLst>
  <p:sldIdLst>
    <p:sldId xmlns:r="http://schemas.openxmlformats.org/officeDocument/2006/relationships" id="256" r:id="R7266b736289740d5"/>
    <p:sldId xmlns:r="http://schemas.openxmlformats.org/officeDocument/2006/relationships" id="257" r:id="R5e890a1f143c4b7c"/>
    <p:sldId xmlns:r="http://schemas.openxmlformats.org/officeDocument/2006/relationships" id="258" r:id="R3e8e9f383d4e4ee1"/>
    <p:sldId xmlns:r="http://schemas.openxmlformats.org/officeDocument/2006/relationships" id="259" r:id="R829f3215cdfa4404"/>
    <p:sldId xmlns:r="http://schemas.openxmlformats.org/officeDocument/2006/relationships" id="260" r:id="Rcdd9ed7bcd7745bc"/>
    <p:sldId xmlns:r="http://schemas.openxmlformats.org/officeDocument/2006/relationships" id="261" r:id="Rdfa8c802f7e64314"/>
    <p:sldId xmlns:r="http://schemas.openxmlformats.org/officeDocument/2006/relationships" id="262" r:id="Rd1e07a3cdb6c496a"/>
    <p:sldId xmlns:r="http://schemas.openxmlformats.org/officeDocument/2006/relationships" id="263" r:id="R4275014f63874703"/>
    <p:sldId xmlns:r="http://schemas.openxmlformats.org/officeDocument/2006/relationships" id="264" r:id="R056aa370e28f4cd4"/>
    <p:sldId xmlns:r="http://schemas.openxmlformats.org/officeDocument/2006/relationships" id="265" r:id="R8f3b7eb7b5944d12"/>
    <p:sldId xmlns:r="http://schemas.openxmlformats.org/officeDocument/2006/relationships" id="266" r:id="R23c03956451a4b88"/>
    <p:sldId xmlns:r="http://schemas.openxmlformats.org/officeDocument/2006/relationships" id="267" r:id="R09743fdeefcd4893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9f06a3bcc3454f" /><Relationship Type="http://schemas.openxmlformats.org/officeDocument/2006/relationships/slideMaster" Target="/ppt/slideMasters/slideMaster1.xml" Id="R3adf590ed6324d3f" /><Relationship Type="http://schemas.openxmlformats.org/officeDocument/2006/relationships/notesMaster" Target="/ppt/notesMasters/notesMaster1.xml" Id="R41a60615402145a6" /><Relationship Type="http://schemas.openxmlformats.org/officeDocument/2006/relationships/presProps" Target="/ppt/presProps.xml" Id="R6825ad149a5c492c" /><Relationship Type="http://schemas.openxmlformats.org/officeDocument/2006/relationships/viewProps" Target="/ppt/viewProps.xml" Id="Rfa0a4009eb974c69" /><Relationship Type="http://schemas.openxmlformats.org/officeDocument/2006/relationships/tableStyles" Target="/ppt/tableStyles.xml" Id="R2a4ef97e403a4062" /><Relationship Type="http://schemas.openxmlformats.org/officeDocument/2006/relationships/slide" Target="/ppt/slides/slide1.xml" Id="R7266b736289740d5" /><Relationship Type="http://schemas.openxmlformats.org/officeDocument/2006/relationships/slide" Target="/ppt/slides/slide2.xml" Id="R5e890a1f143c4b7c" /><Relationship Type="http://schemas.openxmlformats.org/officeDocument/2006/relationships/slide" Target="/ppt/slides/slide3.xml" Id="R3e8e9f383d4e4ee1" /><Relationship Type="http://schemas.openxmlformats.org/officeDocument/2006/relationships/slide" Target="/ppt/slides/slide4.xml" Id="R829f3215cdfa4404" /><Relationship Type="http://schemas.openxmlformats.org/officeDocument/2006/relationships/slide" Target="/ppt/slides/slide5.xml" Id="Rcdd9ed7bcd7745bc" /><Relationship Type="http://schemas.openxmlformats.org/officeDocument/2006/relationships/slide" Target="/ppt/slides/slide6.xml" Id="Rdfa8c802f7e64314" /><Relationship Type="http://schemas.openxmlformats.org/officeDocument/2006/relationships/slide" Target="/ppt/slides/slide7.xml" Id="Rd1e07a3cdb6c496a" /><Relationship Type="http://schemas.openxmlformats.org/officeDocument/2006/relationships/slide" Target="/ppt/slides/slide8.xml" Id="R4275014f63874703" /><Relationship Type="http://schemas.openxmlformats.org/officeDocument/2006/relationships/slide" Target="/ppt/slides/slide9.xml" Id="R056aa370e28f4cd4" /><Relationship Type="http://schemas.openxmlformats.org/officeDocument/2006/relationships/slide" Target="/ppt/slides/slide10.xml" Id="R8f3b7eb7b5944d12" /><Relationship Type="http://schemas.openxmlformats.org/officeDocument/2006/relationships/slide" Target="/ppt/slides/slide11.xml" Id="R23c03956451a4b88" /><Relationship Type="http://schemas.openxmlformats.org/officeDocument/2006/relationships/slide" Target="/ppt/slides/slide12.xml" Id="R09743fdeefcd48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d70028f7c4b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Edit">
  <a:themeElements>
    <a:clrScheme name="ImageEdit">
      <a:dk1>
        <a:srgbClr val="1A2033"/>
      </a:dk1>
      <a:lt1>
        <a:srgbClr val="FFFFFF"/>
      </a:lt1>
      <a:dk2>
        <a:srgbClr val="141B2D"/>
      </a:dk2>
      <a:lt2>
        <a:srgbClr val="EEF2F8"/>
      </a:lt2>
      <a:accent1>
        <a:srgbClr val="FF6B4A"/>
      </a:accent1>
      <a:accent2>
        <a:srgbClr val="2EC4B6"/>
      </a:accent2>
      <a:accent3>
        <a:srgbClr val="5B6B8C"/>
      </a:accent3>
      <a:accent4>
        <a:srgbClr val="FFB547"/>
      </a:accent4>
      <a:accent5>
        <a:srgbClr val="8E9AB5"/>
      </a:accent5>
      <a:accent6>
        <a:srgbClr val="C9D3E6"/>
      </a:accent6>
      <a:hlink>
        <a:srgbClr val="2EC4B6"/>
      </a:hlink>
      <a:folHlink>
        <a:srgbClr val="5B6B8C"/>
      </a:folHlink>
    </a:clrScheme>
    <a:fontScheme name="ImageEdi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ImageEd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7f1e69ad345f1" /><Relationship Type="http://schemas.openxmlformats.org/officeDocument/2006/relationships/notesMaster" Target="/ppt/notesMasters/notesMaster1.xml" Id="Rc1d3eb9b2c3b45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da1f0e8a604a84" /><Relationship Type="http://schemas.openxmlformats.org/officeDocument/2006/relationships/notesMaster" Target="/ppt/notesMasters/notesMaster1.xml" Id="R4e82bedaa85944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07cdf31c774ede" /><Relationship Type="http://schemas.openxmlformats.org/officeDocument/2006/relationships/notesMaster" Target="/ppt/notesMasters/notesMaster1.xml" Id="R9cb1956091104f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c5a8ebe093491f" /><Relationship Type="http://schemas.openxmlformats.org/officeDocument/2006/relationships/notesMaster" Target="/ppt/notesMasters/notesMaster1.xml" Id="R22df529cc7104d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00ab1028ef45a6" /><Relationship Type="http://schemas.openxmlformats.org/officeDocument/2006/relationships/notesMaster" Target="/ppt/notesMasters/notesMaster1.xml" Id="Rca8e3c88b2d742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dac316d1e04563" /><Relationship Type="http://schemas.openxmlformats.org/officeDocument/2006/relationships/notesMaster" Target="/ppt/notesMasters/notesMaster1.xml" Id="R6fb8db15496a45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5e9e20171148e6" /><Relationship Type="http://schemas.openxmlformats.org/officeDocument/2006/relationships/notesMaster" Target="/ppt/notesMasters/notesMaster1.xml" Id="Rd8fa3a88026540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591031f3f40f9" /><Relationship Type="http://schemas.openxmlformats.org/officeDocument/2006/relationships/notesMaster" Target="/ppt/notesMasters/notesMaster1.xml" Id="R7c1a1721a5b342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0b42072459466b" /><Relationship Type="http://schemas.openxmlformats.org/officeDocument/2006/relationships/notesMaster" Target="/ppt/notesMasters/notesMaster1.xml" Id="R67e2859189aa4f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fea56599ea419e" /><Relationship Type="http://schemas.openxmlformats.org/officeDocument/2006/relationships/notesMaster" Target="/ppt/notesMasters/notesMaster1.xml" Id="Re19ab999574840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76281a32b944ed" /><Relationship Type="http://schemas.openxmlformats.org/officeDocument/2006/relationships/notesMaster" Target="/ppt/notesMasters/notesMaster1.xml" Id="R9f583f8eaef84f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7982eaed334cd8" /><Relationship Type="http://schemas.openxmlformats.org/officeDocument/2006/relationships/notesMaster" Target="/ppt/notesMasters/notesMaster1.xml" Id="R15abaa6381ab4a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本次讨论围绕已有原型如何转化为可验收的研究工作。建议把原来的四人分工改成五人，单独设置数据与评价负责人。各角色都有明确输入、输出和交叉检查对象，避免最后只有一个人会运行全部系统。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统一目标，再分任务。系统能运行只是基础，真正需要五个人共同完成的是清晰任务定义、可靠实验和可解释结论。开发图已经用于选择方法，预留测试图不能继续参与调参。每个人都要能区分已实现功能、开发诊断和后续计划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负责把研究问题和语言输入讲清楚，B负责找准区域，C负责处理区域，D负责把模块连成稳定系统，E负责独立地检查这些处理有没有用。报告写作由全员提供本模块材料，再统一口径，不把文档全部压给一个成员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口约定能降低模块联调成本。A不能只给一段英文提示词，还要把原目标和新内容区分开。B要保留每个实例，不能只输出合并掩码。C要保存候选而不是只留下最好图片。E的测试标注不能泄露给自动编辑流程，人工掩码诊断必须另列，不能混入自动成绩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的验收不只是增加词表数量，而是对没拿来写规则的指令做测试。B也不能只展示选区好看的图，需要把漏检、误检和重复实例列出来。保护规则应做开关对照，才能知道改善来自哪里。LLM解析如要评估，应单独确定指令集和失败处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负责方法实验，D负责实验执行是否稳定可重复。重试会增加生成次数，不能只说结果更好而不说明代价。网页也属于研究可靠性的一部分，如果输入变了却显示旧结果，就会造成错误判断。成员D的记录应让另一名成员能复现同一案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组织评价，但不是一个人决定所有结果。建议两位非该模块作者分别评分，再记录分歧与讨论结果。先保存独立判断，避免互相影响。开发集评价可以指导改进，正式测试后再改方法需要新一轮验证，不能把改过的成绩继续当一次性独立测试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每个截止日期绑定明确产出。十二月十日的冻结节点尤其重要，冻结后不根据测试表现挑种子或改阈值。若正式测试暴露问题，可以分析并开展下一轮研究，但要诚实保留这一轮成绩。中期汇报材料只能写截至汇报日确实完成的工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保留原稿项目周期，但把泛泛的“继续优化”改成可以验收的研究产出。论文、软著和结题成果需要按学校要求和实际完成情况推进，不能提前写成已有成果。扩展方法是否加入，要先说明它回答哪个现有实验没有回答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会不只口头说“做了调参”，需要展示图、表或可运行提交。每个结果都要能追溯到输入、方法和参数。失败样本保留，不覆盖为成功图。报告里的数字需要另一人能从记录重算，出现历史版本结果时注明版本与样本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交叉验收的目的，是让错误能被另一双眼睛发现。比如选区问题由B实现，但E拿独立标注检查，C观察它对生成的实际影响。每个人都要能解释从指令到结果的一条完整链路，同时知道自己没做过或没验证的部分。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讨论结束后应形成一份带真实姓名的责任表和确认后的节点。不要把建议分工直接当作已经发生的贡献。五个人共同确认实验口径，特别是删除范围、失败计入和多目标计数，然后按统一标准开展下一阶段工作。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d095192544d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a857e2a4842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b3440138c47e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14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5F85B3-5DF5-40E3-8F28-91CFD4E05241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141732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4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4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1DFB50F-7073-4112-B996-8AC37649B1FF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640080" y="274320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6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16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CA1EBB8-6750-4F48-9C82-054EDA1A078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600" b="1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6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4F3F934-7FE2-46B0-A075-7143F81E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chemeClr val="accent5"/>
                </a:solidFill>
              </a:rPr>
              <a:t>基于扩散模型的图像编辑系统 · 分工规划讨论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1189F23-5BEC-49D8-BAF0-5ED6108ABD0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E9AB5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1065f099524468" /><Relationship Type="http://schemas.openxmlformats.org/officeDocument/2006/relationships/slideLayout" Target="/ppt/slideLayouts/slideLayout1.xml" Id="Rf4848a291bcd440f" /><Relationship Type="http://schemas.openxmlformats.org/officeDocument/2006/relationships/slideLayout" Target="/ppt/slideLayouts/slideLayout2.xml" Id="R1e3848fd8be3419e" /><Relationship Type="http://schemas.openxmlformats.org/officeDocument/2006/relationships/slideLayout" Target="/ppt/slideLayouts/slideLayout3.xml" Id="R195e4bd71438419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50248DE-4620-4264-9C86-08E562F332A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E9AB5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48a291bcd440f"/>
    <p:sldLayoutId xmlns:r="http://schemas.openxmlformats.org/officeDocument/2006/relationships" id="2147483650" r:id="R1e3848fd8be3419e"/>
    <p:sldLayoutId xmlns:r="http://schemas.openxmlformats.org/officeDocument/2006/relationships" id="2147483651" r:id="R195e4bd71438419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ImageEdit">
  <a:themeElements>
    <a:clrScheme name="ImageEdit">
      <a:dk1>
        <a:srgbClr val="1A2033"/>
      </a:dk1>
      <a:lt1>
        <a:srgbClr val="FFFFFF"/>
      </a:lt1>
      <a:dk2>
        <a:srgbClr val="141B2D"/>
      </a:dk2>
      <a:lt2>
        <a:srgbClr val="EEF2F8"/>
      </a:lt2>
      <a:accent1>
        <a:srgbClr val="FF6B4A"/>
      </a:accent1>
      <a:accent2>
        <a:srgbClr val="2EC4B6"/>
      </a:accent2>
      <a:accent3>
        <a:srgbClr val="5B6B8C"/>
      </a:accent3>
      <a:accent4>
        <a:srgbClr val="FFB547"/>
      </a:accent4>
      <a:accent5>
        <a:srgbClr val="8E9AB5"/>
      </a:accent5>
      <a:accent6>
        <a:srgbClr val="C9D3E6"/>
      </a:accent6>
      <a:hlink>
        <a:srgbClr val="2EC4B6"/>
      </a:hlink>
      <a:folHlink>
        <a:srgbClr val="5B6B8C"/>
      </a:folHlink>
    </a:clrScheme>
    <a:fontScheme name="ImageEdi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ImageEd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ef262ebc042ed" /><Relationship Type="http://schemas.openxmlformats.org/officeDocument/2006/relationships/notesSlide" Target="/ppt/notesSlides/notesSlide1.xml" Id="R39113c3c8e144a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96869d9a48bc" /><Relationship Type="http://schemas.openxmlformats.org/officeDocument/2006/relationships/notesSlide" Target="/ppt/notesSlides/notesSlide2.xml" Id="R4cd8a005b52547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39e98e62e468c" /><Relationship Type="http://schemas.openxmlformats.org/officeDocument/2006/relationships/notesSlide" Target="/ppt/notesSlides/notesSlide3.xml" Id="Rd952a668ca5d49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e131d6c8d46a9" /><Relationship Type="http://schemas.openxmlformats.org/officeDocument/2006/relationships/notesSlide" Target="/ppt/notesSlides/notesSlide4.xml" Id="R2962329e55f14b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d9a9afc6f4404" /><Relationship Type="http://schemas.openxmlformats.org/officeDocument/2006/relationships/notesSlide" Target="/ppt/notesSlides/notesSlide5.xml" Id="Rd006295d005d47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7609730ad4c1d" /><Relationship Type="http://schemas.openxmlformats.org/officeDocument/2006/relationships/notesSlide" Target="/ppt/notesSlides/notesSlide6.xml" Id="R2430933a51dc4f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2ae7529d9466b" /><Relationship Type="http://schemas.openxmlformats.org/officeDocument/2006/relationships/notesSlide" Target="/ppt/notesSlides/notesSlide7.xml" Id="Rb7ad9010c10940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c3bac330e422e" /><Relationship Type="http://schemas.openxmlformats.org/officeDocument/2006/relationships/notesSlide" Target="/ppt/notesSlides/notesSlide8.xml" Id="Rf889cd0c88264b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3168ebff54f61" /><Relationship Type="http://schemas.openxmlformats.org/officeDocument/2006/relationships/notesSlide" Target="/ppt/notesSlides/notesSlide9.xml" Id="R23f2cd78c4ab4a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58a65e4574c4d" /><Relationship Type="http://schemas.openxmlformats.org/officeDocument/2006/relationships/notesSlide" Target="/ppt/notesSlides/notesSlide10.xml" Id="Re98b4e2594fe41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a8b41def34520" /><Relationship Type="http://schemas.openxmlformats.org/officeDocument/2006/relationships/notesSlide" Target="/ppt/notesSlides/notesSlide11.xml" Id="Rc9c30839449e4b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203616e724a3c" /><Relationship Type="http://schemas.openxmlformats.org/officeDocument/2006/relationships/notesSlide" Target="/ppt/notesSlides/notesSlide12.xml" Id="R48da11b3edf740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E2C55-A04D-42DA-BE7A-D56D7048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FAD296F1-D0A3-468A-BA3F-D56FC4BA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指令驱动图像局部语义编辑系统&#10;五人分工与研究实施计划">
            <a:extLst xmlns:a="http://schemas.openxmlformats.org/drawingml/2006/main">
              <a:ext uri="{FF2B5EF4-FFF2-40B4-BE49-F238E27FC236}">
                <a16:creationId xmlns:a16="http://schemas.microsoft.com/office/drawing/2014/main" id="{C2AFFDBB-532D-44DB-BD91-E717CE03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790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指令驱动图像局部语义编辑系统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五人分工与研究实施计划</a:t>
            </a:r>
          </a:p>
        </p:txBody>
      </p:sp>
      <p:sp>
        <p:nvSpPr>
          <p:cNvPr id="4" name="大学生创新训练项目&#10;成员A  成员B  成员C  成员D">
            <a:extLst xmlns:a="http://schemas.openxmlformats.org/drawingml/2006/main">
              <a:ext uri="{FF2B5EF4-FFF2-40B4-BE49-F238E27FC236}">
                <a16:creationId xmlns:a16="http://schemas.microsoft.com/office/drawing/2014/main" id="{313B15A5-8EF6-4B8C-83FB-A0D61BF1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7905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大学生创新训练项目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成员A  成员B  成员C  成员D  成员E</a:t>
            </a:r>
          </a:p>
        </p:txBody>
      </p:sp>
      <p:sp>
        <p:nvSpPr>
          <p:cNvPr id="5" name="2026 年 10 月 19 日">
            <a:extLst xmlns:a="http://schemas.openxmlformats.org/drawingml/2006/main">
              <a:ext uri="{FF2B5EF4-FFF2-40B4-BE49-F238E27FC236}">
                <a16:creationId xmlns:a16="http://schemas.microsoft.com/office/drawing/2014/main" id="{6E2B5592-0603-4417-BC09-25501F87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2026 年 10 月 19 日</a:t>
            </a:r>
          </a:p>
        </p:txBody>
      </p:sp>
    </p:spTree>
    <p:extLst>
      <p:ext uri="{BB962C8B-B14F-4D97-AF65-F5344CB8AC3E}">
        <p14:creationId xmlns:p14="http://schemas.microsoft.com/office/powerpoint/2010/main" val="1619838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共同目标与当前研究状态">
            <a:extLst xmlns:a="http://schemas.openxmlformats.org/drawingml/2006/main">
              <a:ext uri="{FF2B5EF4-FFF2-40B4-BE49-F238E27FC236}">
                <a16:creationId xmlns:a16="http://schemas.microsoft.com/office/drawing/2014/main" id="{C7D079AD-F8E3-40F9-AED4-382A06FD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共同目标与当前研究状态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5EC96D27-8218-41FD-B842-2F660CE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共同研究问题">
            <a:extLst xmlns:a="http://schemas.openxmlformats.org/drawingml/2006/main">
              <a:ext uri="{FF2B5EF4-FFF2-40B4-BE49-F238E27FC236}">
                <a16:creationId xmlns:a16="http://schemas.microsoft.com/office/drawing/2014/main" id="{D638C82D-6ADA-43A4-A69D-085C6E66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共同研究问题</a:t>
            </a:r>
          </a:p>
        </p:txBody>
      </p:sp>
      <p:sp>
        <p:nvSpPr>
          <p:cNvPr id="4" name="如何减少多目标漏编辑与非目标内容误修改">
            <a:extLst xmlns:a="http://schemas.openxmlformats.org/drawingml/2006/main">
              <a:ext uri="{FF2B5EF4-FFF2-40B4-BE49-F238E27FC236}">
                <a16:creationId xmlns:a16="http://schemas.microsoft.com/office/drawing/2014/main" id="{77F9C5B1-97EC-46AC-A5F4-8FEF8BFE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9225"/>
            <a:ext cx="8229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如何减少多目标漏编辑与非目标内容误修改</a:t>
            </a:r>
          </a:p>
        </p:txBody>
      </p:sp>
      <p:sp>
        <p:nvSpPr>
          <p:cNvPr id="5" name="已有基础">
            <a:extLst xmlns:a="http://schemas.openxmlformats.org/drawingml/2006/main">
              <a:ext uri="{FF2B5EF4-FFF2-40B4-BE49-F238E27FC236}">
                <a16:creationId xmlns:a16="http://schemas.microsoft.com/office/drawing/2014/main" id="{9435D6A7-070D-48D5-8D2E-71B5E2A8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6" name="三类编辑、实例选区、局部重试和完整开发记录">
            <a:extLst xmlns:a="http://schemas.openxmlformats.org/drawingml/2006/main">
              <a:ext uri="{FF2B5EF4-FFF2-40B4-BE49-F238E27FC236}">
                <a16:creationId xmlns:a16="http://schemas.microsoft.com/office/drawing/2014/main" id="{035AA733-1FC0-408A-BBA6-0846C8C1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8229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三类编辑、实例选区、局部重试和完整开发记录</a:t>
            </a:r>
          </a:p>
        </p:txBody>
      </p:sp>
      <p:sp>
        <p:nvSpPr>
          <p:cNvPr id="7" name="当前证据">
            <a:extLst xmlns:a="http://schemas.openxmlformats.org/drawingml/2006/main">
              <a:ext uri="{FF2B5EF4-FFF2-40B4-BE49-F238E27FC236}">
                <a16:creationId xmlns:a16="http://schemas.microsoft.com/office/drawing/2014/main" id="{883F6F77-597C-4470-92D6-C454DE46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当前证据</a:t>
            </a:r>
          </a:p>
        </p:txBody>
      </p:sp>
      <p:sp>
        <p:nvSpPr>
          <p:cNvPr id="8" name="20 张开发图完成逐例调用，仍有失败案例">
            <a:extLst xmlns:a="http://schemas.openxmlformats.org/drawingml/2006/main">
              <a:ext uri="{FF2B5EF4-FFF2-40B4-BE49-F238E27FC236}">
                <a16:creationId xmlns:a16="http://schemas.microsoft.com/office/drawing/2014/main" id="{9C846DCB-6EA6-4342-877B-EE22E0BC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8229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20 张开发图完成逐例调用，仍有失败案例</a:t>
            </a:r>
          </a:p>
        </p:txBody>
      </p:sp>
      <p:sp>
        <p:nvSpPr>
          <p:cNvPr id="9" name="下一阶段">
            <a:extLst xmlns:a="http://schemas.openxmlformats.org/drawingml/2006/main">
              <a:ext uri="{FF2B5EF4-FFF2-40B4-BE49-F238E27FC236}">
                <a16:creationId xmlns:a16="http://schemas.microsoft.com/office/drawing/2014/main" id="{ADD843D7-CDD0-40E7-A563-BDB55375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0" name="冻结版本后评价 120 张预留测试图，补齐消融与人工复核">
            <a:extLst xmlns:a="http://schemas.openxmlformats.org/drawingml/2006/main">
              <a:ext uri="{FF2B5EF4-FFF2-40B4-BE49-F238E27FC236}">
                <a16:creationId xmlns:a16="http://schemas.microsoft.com/office/drawing/2014/main" id="{72EEAF6E-D264-4EE5-BA62-2E16F3B8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8229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冻结版本后评价 120 张预留测试图，补齐消融与人工复核</a:t>
            </a:r>
          </a:p>
        </p:txBody>
      </p:sp>
    </p:spTree>
    <p:extLst>
      <p:ext uri="{BB962C8B-B14F-4D97-AF65-F5344CB8AC3E}">
        <p14:creationId xmlns:p14="http://schemas.microsoft.com/office/powerpoint/2010/main" val="501240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五人责任分配">
            <a:extLst xmlns:a="http://schemas.openxmlformats.org/drawingml/2006/main">
              <a:ext uri="{FF2B5EF4-FFF2-40B4-BE49-F238E27FC236}">
                <a16:creationId xmlns:a16="http://schemas.microsoft.com/office/drawing/2014/main" id="{FEEDF3A0-7693-4088-AD19-241D70B1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五人责任分配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0560C498-E2FF-4BCC-9A52-6413F92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5BA92-5C80-4206-9DDA-1438B6FBD9D8}"/>
              </a:ext>
            </a:extLst>
          </p:cNvPr>
          <p:cNvGraphicFramePr/>
          <p:nvPr/>
        </p:nvGraphicFramePr>
        <p:xfrm>
          <a:off xmlns:a="http://schemas.openxmlformats.org/drawingml/2006/main" x="457200" y="1143000"/>
          <a:ext xmlns:a="http://schemas.openxmlformats.org/drawingml/2006/main" cx="82296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0100"/>
                <a:gridCol w="2647950"/>
                <a:gridCol w="4781550"/>
              </a:tblGrid>
              <a:tr h="538163"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独立交付物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38163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研究统筹与指令解析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需求边界、解析样例、相关工作对照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目标选区与内容保护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实例掩码、定位对照、误选案例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8163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编辑方法与局部重试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编辑流程、候选记录、替换消融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交互界面与集成复现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状态校验、演示流程、版本记录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8163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数据管理与实验评价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标注规范、盲评表、统计与失败集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这是建议分工，A–E 替换为实际姓名后确认。历史完成情况">
            <a:extLst xmlns:a="http://schemas.openxmlformats.org/drawingml/2006/main">
              <a:ext uri="{FF2B5EF4-FFF2-40B4-BE49-F238E27FC236}">
                <a16:creationId xmlns:a16="http://schemas.microsoft.com/office/drawing/2014/main" id="{5ACBD764-E584-4318-BD45-C898BDE2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这是建议分工，A–E 替换为实际姓名后确认。历史完成情况按提交、实验记录和成员核对填写。</a:t>
            </a:r>
          </a:p>
        </p:txBody>
      </p:sp>
    </p:spTree>
    <p:extLst>
      <p:ext uri="{BB962C8B-B14F-4D97-AF65-F5344CB8AC3E}">
        <p14:creationId xmlns:p14="http://schemas.microsoft.com/office/powerpoint/2010/main" val="1033382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模块接口与交付关系">
            <a:extLst xmlns:a="http://schemas.openxmlformats.org/drawingml/2006/main">
              <a:ext uri="{FF2B5EF4-FFF2-40B4-BE49-F238E27FC236}">
                <a16:creationId xmlns:a16="http://schemas.microsoft.com/office/drawing/2014/main" id="{FD67A5F2-6C17-49CC-B135-959F6B94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模块接口与交付关系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08ACDC7B-9E89-44C9-9FD7-F6DE822C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B54C0-8F91-4788-8854-2426EDB15DD1}"/>
              </a:ext>
            </a:extLst>
          </p:cNvPr>
          <p:cNvGraphicFramePr/>
          <p:nvPr/>
        </p:nvGraphicFramePr>
        <p:xfrm>
          <a:off xmlns:a="http://schemas.openxmlformats.org/drawingml/2006/main" x="457200" y="1152525"/>
          <a:ext xmlns:a="http://schemas.openxmlformats.org/drawingml/2006/main" cx="82296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8275"/>
                <a:gridCol w="2190750"/>
                <a:gridCol w="4600575"/>
              </a:tblGrid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交付关系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输出与检查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交给 B、C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自然语言指令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动作、目标、新内容，异常指令处理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交给 C、D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原图与目标词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实例列表、原始选区、融合权重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交给 D、E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原图、意图与选区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结果、参数、重试候选与接受记录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交给 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固定版本和调用接口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同一输入可追踪运行，旧状态清空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反馈全员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独立标注与评价规范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配对结果、失败原因与复核分歧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正式测试标注只进入评价，不自动传给编辑模块。人工选区诊断">
            <a:extLst xmlns:a="http://schemas.openxmlformats.org/drawingml/2006/main">
              <a:ext uri="{FF2B5EF4-FFF2-40B4-BE49-F238E27FC236}">
                <a16:creationId xmlns:a16="http://schemas.microsoft.com/office/drawing/2014/main" id="{0C33F1CA-6C50-4F6F-8761-04815D24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正式测试标注只进入评价，不自动传给编辑模块。人工选区诊断应单独标记。</a:t>
            </a:r>
          </a:p>
        </p:txBody>
      </p:sp>
    </p:spTree>
    <p:extLst>
      <p:ext uri="{BB962C8B-B14F-4D97-AF65-F5344CB8AC3E}">
        <p14:creationId xmlns:p14="http://schemas.microsoft.com/office/powerpoint/2010/main" val="2038908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成员A与B的研究任务">
            <a:extLst xmlns:a="http://schemas.openxmlformats.org/drawingml/2006/main">
              <a:ext uri="{FF2B5EF4-FFF2-40B4-BE49-F238E27FC236}">
                <a16:creationId xmlns:a16="http://schemas.microsoft.com/office/drawing/2014/main" id="{07479096-67B1-4AEF-8031-35BCA25A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成员A与B的研究任务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1A4914C1-7FCF-429D-8CD3-59C762A9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成员A  指令解析与研究边界">
            <a:extLst xmlns:a="http://schemas.openxmlformats.org/drawingml/2006/main">
              <a:ext uri="{FF2B5EF4-FFF2-40B4-BE49-F238E27FC236}">
                <a16:creationId xmlns:a16="http://schemas.microsoft.com/office/drawing/2014/main" id="{2BB9A0EB-E126-423B-9503-D21D5CC1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成员A  指令解析与研究边界</a:t>
            </a:r>
          </a:p>
        </p:txBody>
      </p:sp>
      <p:sp>
        <p:nvSpPr>
          <p:cNvPr id="4" name="建立覆盖三类动作的独立指令表，统计动作与目标解析错误">
            <a:extLst xmlns:a="http://schemas.openxmlformats.org/drawingml/2006/main">
              <a:ext uri="{FF2B5EF4-FFF2-40B4-BE49-F238E27FC236}">
                <a16:creationId xmlns:a16="http://schemas.microsoft.com/office/drawing/2014/main" id="{2D3A563B-87BF-42EB-A1D0-BBF4E6FF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建立覆盖三类动作的独立指令表，统计动作与目标解析错误</a:t>
            </a:r>
          </a:p>
        </p:txBody>
      </p:sp>
      <p:sp>
        <p:nvSpPr>
          <p:cNvPr id="5" name="成员A  相关方法对照">
            <a:extLst xmlns:a="http://schemas.openxmlformats.org/drawingml/2006/main">
              <a:ext uri="{FF2B5EF4-FFF2-40B4-BE49-F238E27FC236}">
                <a16:creationId xmlns:a16="http://schemas.microsoft.com/office/drawing/2014/main" id="{2343EE6E-3523-4E04-A9D4-41744A4F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成员A  相关方法对照</a:t>
            </a:r>
          </a:p>
        </p:txBody>
      </p:sp>
      <p:sp>
        <p:nvSpPr>
          <p:cNvPr id="6" name="明确 Grounded SAM 等已有方法与本项目设计的">
            <a:extLst xmlns:a="http://schemas.openxmlformats.org/drawingml/2006/main">
              <a:ext uri="{FF2B5EF4-FFF2-40B4-BE49-F238E27FC236}">
                <a16:creationId xmlns:a16="http://schemas.microsoft.com/office/drawing/2014/main" id="{03D01C57-DA2E-4C70-80F8-96C367EE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明确 Grounded SAM 等已有方法与本项目设计的关系</a:t>
            </a:r>
          </a:p>
        </p:txBody>
      </p:sp>
      <p:sp>
        <p:nvSpPr>
          <p:cNvPr id="7" name="成员B  定位与实例质量">
            <a:extLst xmlns:a="http://schemas.openxmlformats.org/drawingml/2006/main">
              <a:ext uri="{FF2B5EF4-FFF2-40B4-BE49-F238E27FC236}">
                <a16:creationId xmlns:a16="http://schemas.microsoft.com/office/drawing/2014/main" id="{B03E5845-4711-4E71-AF11-C1D1709F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成员B  定位与实例质量</a:t>
            </a:r>
          </a:p>
        </p:txBody>
      </p:sp>
      <p:sp>
        <p:nvSpPr>
          <p:cNvPr id="8" name="固定后处理，比较 CLIPSeg 与 DINO + SA">
            <a:extLst xmlns:a="http://schemas.openxmlformats.org/drawingml/2006/main">
              <a:ext uri="{FF2B5EF4-FFF2-40B4-BE49-F238E27FC236}">
                <a16:creationId xmlns:a16="http://schemas.microsoft.com/office/drawing/2014/main" id="{849D4E2B-ABB5-4C70-89A8-8DAF3421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固定后处理，比较 CLIPSeg 与 DINO + SAM 的 IoU 和实例漏检</a:t>
            </a:r>
          </a:p>
        </p:txBody>
      </p:sp>
      <p:sp>
        <p:nvSpPr>
          <p:cNvPr id="9" name="成员B  内容保护">
            <a:extLst xmlns:a="http://schemas.openxmlformats.org/drawingml/2006/main">
              <a:ext uri="{FF2B5EF4-FFF2-40B4-BE49-F238E27FC236}">
                <a16:creationId xmlns:a16="http://schemas.microsoft.com/office/drawing/2014/main" id="{22253F53-C39E-4DF0-9065-E93E7B6B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成员B  内容保护</a:t>
            </a:r>
          </a:p>
        </p:txBody>
      </p:sp>
      <p:sp>
        <p:nvSpPr>
          <p:cNvPr id="10" name="检查容器内容物与饰边误改，输出有无保护的配对案例">
            <a:extLst xmlns:a="http://schemas.openxmlformats.org/drawingml/2006/main">
              <a:ext uri="{FF2B5EF4-FFF2-40B4-BE49-F238E27FC236}">
                <a16:creationId xmlns:a16="http://schemas.microsoft.com/office/drawing/2014/main" id="{3C913A29-03A9-48B5-BCCC-CB6DF97B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检查容器内容物与饰边误改，输出有无保护的配对案例</a:t>
            </a:r>
          </a:p>
        </p:txBody>
      </p:sp>
    </p:spTree>
    <p:extLst>
      <p:ext uri="{BB962C8B-B14F-4D97-AF65-F5344CB8AC3E}">
        <p14:creationId xmlns:p14="http://schemas.microsoft.com/office/powerpoint/2010/main" val="2140078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成员C与D的研究任务">
            <a:extLst xmlns:a="http://schemas.openxmlformats.org/drawingml/2006/main">
              <a:ext uri="{FF2B5EF4-FFF2-40B4-BE49-F238E27FC236}">
                <a16:creationId xmlns:a16="http://schemas.microsoft.com/office/drawing/2014/main" id="{5E10DDF7-0706-4BE3-AEF7-4CECFCE3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成员C与D的研究任务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1CB8EA40-3E82-46F7-9DB3-F7C1EEC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成员C  逐实例替换">
            <a:extLst xmlns:a="http://schemas.openxmlformats.org/drawingml/2006/main">
              <a:ext uri="{FF2B5EF4-FFF2-40B4-BE49-F238E27FC236}">
                <a16:creationId xmlns:a16="http://schemas.microsoft.com/office/drawing/2014/main" id="{A2FB02E5-DC96-4799-998B-F720638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成员C  逐实例替换</a:t>
            </a:r>
          </a:p>
        </p:txBody>
      </p:sp>
      <p:sp>
        <p:nvSpPr>
          <p:cNvPr id="4" name="比较整图、局部裁剪与检查重试，固定提示词与种子方案">
            <a:extLst xmlns:a="http://schemas.openxmlformats.org/drawingml/2006/main">
              <a:ext uri="{FF2B5EF4-FFF2-40B4-BE49-F238E27FC236}">
                <a16:creationId xmlns:a16="http://schemas.microsoft.com/office/drawing/2014/main" id="{C8997B2A-BF82-409B-9189-833D6EE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比较整图、局部裁剪与检查重试，固定提示词与种子方案</a:t>
            </a:r>
          </a:p>
        </p:txBody>
      </p:sp>
      <p:sp>
        <p:nvSpPr>
          <p:cNvPr id="5" name="成员C  代价与失败记录">
            <a:extLst xmlns:a="http://schemas.openxmlformats.org/drawingml/2006/main">
              <a:ext uri="{FF2B5EF4-FFF2-40B4-BE49-F238E27FC236}">
                <a16:creationId xmlns:a16="http://schemas.microsoft.com/office/drawing/2014/main" id="{85673824-6B49-48B9-AEFF-7DE0728F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成员C  代价与失败记录</a:t>
            </a:r>
          </a:p>
        </p:txBody>
      </p:sp>
      <p:sp>
        <p:nvSpPr>
          <p:cNvPr id="6" name="记录实例生成次数、重试接受原因和耗时，保留被拒候选">
            <a:extLst xmlns:a="http://schemas.openxmlformats.org/drawingml/2006/main">
              <a:ext uri="{FF2B5EF4-FFF2-40B4-BE49-F238E27FC236}">
                <a16:creationId xmlns:a16="http://schemas.microsoft.com/office/drawing/2014/main" id="{1404B735-06BB-4EBF-B050-607A3508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记录实例生成次数、重试接受原因和耗时，保留被拒候选</a:t>
            </a:r>
          </a:p>
        </p:txBody>
      </p:sp>
      <p:sp>
        <p:nvSpPr>
          <p:cNvPr id="7" name="成员D  交互与状态">
            <a:extLst xmlns:a="http://schemas.openxmlformats.org/drawingml/2006/main">
              <a:ext uri="{FF2B5EF4-FFF2-40B4-BE49-F238E27FC236}">
                <a16:creationId xmlns:a16="http://schemas.microsoft.com/office/drawing/2014/main" id="{1CC41F21-DD5F-48B2-9159-653E35E2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成员D  交互与状态</a:t>
            </a:r>
          </a:p>
        </p:txBody>
      </p:sp>
      <p:sp>
        <p:nvSpPr>
          <p:cNvPr id="8" name="检查自动／人工选区切换、输入变化、旧结果与错误提示">
            <a:extLst xmlns:a="http://schemas.openxmlformats.org/drawingml/2006/main">
              <a:ext uri="{FF2B5EF4-FFF2-40B4-BE49-F238E27FC236}">
                <a16:creationId xmlns:a16="http://schemas.microsoft.com/office/drawing/2014/main" id="{182A78BA-6753-49AB-9965-ED6CA2A4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检查自动／人工选区切换、输入变化、旧结果与错误提示</a:t>
            </a:r>
          </a:p>
        </p:txBody>
      </p:sp>
      <p:sp>
        <p:nvSpPr>
          <p:cNvPr id="9" name="成员D  集成与复现">
            <a:extLst xmlns:a="http://schemas.openxmlformats.org/drawingml/2006/main">
              <a:ext uri="{FF2B5EF4-FFF2-40B4-BE49-F238E27FC236}">
                <a16:creationId xmlns:a16="http://schemas.microsoft.com/office/drawing/2014/main" id="{148F58D1-AED4-4FEF-A26D-C097D49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成员D  集成与复现</a:t>
            </a:r>
          </a:p>
        </p:txBody>
      </p:sp>
      <p:sp>
        <p:nvSpPr>
          <p:cNvPr id="10" name="冻结配置与版本，提供可重复的演示流程和结果索引">
            <a:extLst xmlns:a="http://schemas.openxmlformats.org/drawingml/2006/main">
              <a:ext uri="{FF2B5EF4-FFF2-40B4-BE49-F238E27FC236}">
                <a16:creationId xmlns:a16="http://schemas.microsoft.com/office/drawing/2014/main" id="{E638F910-48BE-423F-B2E6-231792A4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冻结配置与版本，提供可重复的演示流程和结果索引</a:t>
            </a:r>
          </a:p>
        </p:txBody>
      </p:sp>
    </p:spTree>
    <p:extLst>
      <p:ext uri="{BB962C8B-B14F-4D97-AF65-F5344CB8AC3E}">
        <p14:creationId xmlns:p14="http://schemas.microsoft.com/office/powerpoint/2010/main" val="1854403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成员E的数据与评价任务">
            <a:extLst xmlns:a="http://schemas.openxmlformats.org/drawingml/2006/main">
              <a:ext uri="{FF2B5EF4-FFF2-40B4-BE49-F238E27FC236}">
                <a16:creationId xmlns:a16="http://schemas.microsoft.com/office/drawing/2014/main" id="{360B3AF8-C46F-463C-AF9E-13ED16DF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成员E的数据与评价任务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56AF95C5-2806-4D14-9CE9-D3F80473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C15D3-0829-44FE-9365-7EBC212E01EA}"/>
              </a:ext>
            </a:extLst>
          </p:cNvPr>
          <p:cNvGraphicFramePr/>
          <p:nvPr/>
        </p:nvGraphicFramePr>
        <p:xfrm>
          <a:off xmlns:a="http://schemas.openxmlformats.org/drawingml/2006/main" x="457200" y="1162050"/>
          <a:ext xmlns:a="http://schemas.openxmlformats.org/drawingml/2006/main" cx="82296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419850"/>
              </a:tblGrid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建议验收条件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数据与任务定义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核对图像来源，明确目标范围与实例数，保留 20／120 划分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独立评价区域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使用任务匹配的 GT，记录边界、遮挡、附属结构的规则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任务成功评分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分别定义改色、删除和替换标准，纳入所有运行失败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交叉人工复核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隐藏方法标签、随机展示，由非该模块作者独立打分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统计与结果包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每图配对，按动作和难度分组，报告样本数与不确定性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组内交叉评审需如实标明身份，不能描述为外部第三方盲评。">
            <a:extLst xmlns:a="http://schemas.openxmlformats.org/drawingml/2006/main">
              <a:ext uri="{FF2B5EF4-FFF2-40B4-BE49-F238E27FC236}">
                <a16:creationId xmlns:a16="http://schemas.microsoft.com/office/drawing/2014/main" id="{67803BB4-ABAD-4084-855C-83C0E164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组内交叉评审需如实标明身份，不能描述为外部第三方盲评。</a:t>
            </a:r>
          </a:p>
        </p:txBody>
      </p:sp>
    </p:spTree>
    <p:extLst>
      <p:ext uri="{BB962C8B-B14F-4D97-AF65-F5344CB8AC3E}">
        <p14:creationId xmlns:p14="http://schemas.microsoft.com/office/powerpoint/2010/main" val="569512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中期前建议里程碑">
            <a:extLst xmlns:a="http://schemas.openxmlformats.org/drawingml/2006/main">
              <a:ext uri="{FF2B5EF4-FFF2-40B4-BE49-F238E27FC236}">
                <a16:creationId xmlns:a16="http://schemas.microsoft.com/office/drawing/2014/main" id="{A6042072-E808-4B67-90CE-27878C71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中期前建议里程碑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ED514D3D-4EEE-4B7A-9C8E-9CC794AB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4CF50-D5B4-469D-9547-3FB40191C54A}"/>
              </a:ext>
            </a:extLst>
          </p:cNvPr>
          <p:cNvGraphicFramePr/>
          <p:nvPr/>
        </p:nvGraphicFramePr>
        <p:xfrm>
          <a:off xmlns:a="http://schemas.openxmlformats.org/drawingml/2006/main" x="457200" y="1152525"/>
          <a:ext xmlns:a="http://schemas.openxmlformats.org/drawingml/2006/main" cx="82296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1885950"/>
                <a:gridCol w="4705350"/>
              </a:tblGrid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建议截止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2026.11.15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A、B、E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任务定义与标注复核，定位和解析诊断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2026.11.30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B、C、E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开发集消融，参数敏感性与失败分类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2026.12.10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C、D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冻结代码、模型标识、参数与评价口径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2026.12.20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牵头，全员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 张预留测试评价，独立评分与统计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2027.01.05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统稿，全员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中期材料、演示彩排与交叉问答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日期沿用原稿的 2027 年 1 月中期节点制定，均为建">
            <a:extLst xmlns:a="http://schemas.openxmlformats.org/drawingml/2006/main">
              <a:ext uri="{FF2B5EF4-FFF2-40B4-BE49-F238E27FC236}">
                <a16:creationId xmlns:a16="http://schemas.microsoft.com/office/drawing/2014/main" id="{D9F906B3-698C-4046-BABD-B00BD59D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日期沿用原稿的 2027 年 1 月中期节点制定，均为建议计划，按学校实际安排调整。</a:t>
            </a:r>
          </a:p>
        </p:txBody>
      </p:sp>
    </p:spTree>
    <p:extLst>
      <p:ext uri="{BB962C8B-B14F-4D97-AF65-F5344CB8AC3E}">
        <p14:creationId xmlns:p14="http://schemas.microsoft.com/office/powerpoint/2010/main" val="769399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项目周期与成果安排">
            <a:extLst xmlns:a="http://schemas.openxmlformats.org/drawingml/2006/main">
              <a:ext uri="{FF2B5EF4-FFF2-40B4-BE49-F238E27FC236}">
                <a16:creationId xmlns:a16="http://schemas.microsoft.com/office/drawing/2014/main" id="{BC374EDF-B57D-4880-A6E1-3FB65D6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项目周期与成果安排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2299895F-F71E-4BF6-B0C9-CAD0F193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63974-4BC2-45ED-B1C2-56BCDCB9FF1A}"/>
              </a:ext>
            </a:extLst>
          </p:cNvPr>
          <p:cNvGraphicFramePr/>
          <p:nvPr/>
        </p:nvGraphicFramePr>
        <p:xfrm>
          <a:off xmlns:a="http://schemas.openxmlformats.org/drawingml/2006/main" x="457200" y="1152525"/>
          <a:ext xmlns:a="http://schemas.openxmlformats.org/drawingml/2006/main" cx="82296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3550"/>
                <a:gridCol w="3067050"/>
                <a:gridCol w="3429000"/>
              </a:tblGrid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研究重点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拟形成材料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2026.10–12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方法完善与独立评价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任务规范、对照实验与失败分析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2027.01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中期考核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阶段报告、汇报与演示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2027.02–04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针对难例深化方法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扩展实验与适用边界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2027.05–07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多场景与复现检查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完整结果、复现说明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34988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2027.08–10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成果整理与结题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结题报告，按条件推进论文或软著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iffEdit、多轮交互等保留为候选扩展，不列为已实现">
            <a:extLst xmlns:a="http://schemas.openxmlformats.org/drawingml/2006/main">
              <a:ext uri="{FF2B5EF4-FFF2-40B4-BE49-F238E27FC236}">
                <a16:creationId xmlns:a16="http://schemas.microsoft.com/office/drawing/2014/main" id="{A9557B61-583D-4651-8456-A1D11D90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DiffEdit、多轮交互等保留为候选扩展，不列为已实现成果。</a:t>
            </a:r>
          </a:p>
        </p:txBody>
      </p:sp>
    </p:spTree>
    <p:extLst>
      <p:ext uri="{BB962C8B-B14F-4D97-AF65-F5344CB8AC3E}">
        <p14:creationId xmlns:p14="http://schemas.microsoft.com/office/powerpoint/2010/main" val="425620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协作与实验记录规范">
            <a:extLst xmlns:a="http://schemas.openxmlformats.org/drawingml/2006/main">
              <a:ext uri="{FF2B5EF4-FFF2-40B4-BE49-F238E27FC236}">
                <a16:creationId xmlns:a16="http://schemas.microsoft.com/office/drawing/2014/main" id="{C83DF724-D002-40C9-9334-517BEC58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协作与实验记录规范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33E94B8A-0582-454C-BE5E-27CBEA2C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每周一次短会">
            <a:extLst xmlns:a="http://schemas.openxmlformats.org/drawingml/2006/main">
              <a:ext uri="{FF2B5EF4-FFF2-40B4-BE49-F238E27FC236}">
                <a16:creationId xmlns:a16="http://schemas.microsoft.com/office/drawing/2014/main" id="{E72D2434-AF08-4AC9-934E-BA61724E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每周一次短会</a:t>
            </a:r>
          </a:p>
        </p:txBody>
      </p:sp>
      <p:sp>
        <p:nvSpPr>
          <p:cNvPr id="4" name="每人展示本周具体产物、一项失败和下周验收目标">
            <a:extLst xmlns:a="http://schemas.openxmlformats.org/drawingml/2006/main">
              <a:ext uri="{FF2B5EF4-FFF2-40B4-BE49-F238E27FC236}">
                <a16:creationId xmlns:a16="http://schemas.microsoft.com/office/drawing/2014/main" id="{9E5C36E9-571D-469B-8D3F-0D103593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每人展示本周具体产物、一项失败和下周验收目标</a:t>
            </a:r>
          </a:p>
        </p:txBody>
      </p:sp>
      <p:sp>
        <p:nvSpPr>
          <p:cNvPr id="5" name="修改与复核">
            <a:extLst xmlns:a="http://schemas.openxmlformats.org/drawingml/2006/main">
              <a:ext uri="{FF2B5EF4-FFF2-40B4-BE49-F238E27FC236}">
                <a16:creationId xmlns:a16="http://schemas.microsoft.com/office/drawing/2014/main" id="{36AE0C78-D225-4D87-A876-2D1E7CDF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修改与复核</a:t>
            </a:r>
          </a:p>
        </p:txBody>
      </p:sp>
      <p:sp>
        <p:nvSpPr>
          <p:cNvPr id="6" name="提交前写清影响模块，由上下游成员检查接口与结果">
            <a:extLst xmlns:a="http://schemas.openxmlformats.org/drawingml/2006/main">
              <a:ext uri="{FF2B5EF4-FFF2-40B4-BE49-F238E27FC236}">
                <a16:creationId xmlns:a16="http://schemas.microsoft.com/office/drawing/2014/main" id="{C54E20BC-29DA-4330-B554-75EE179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提交前写清影响模块，由上下游成员检查接口与结果</a:t>
            </a:r>
          </a:p>
        </p:txBody>
      </p:sp>
      <p:sp>
        <p:nvSpPr>
          <p:cNvPr id="7" name="统一实验记录">
            <a:extLst xmlns:a="http://schemas.openxmlformats.org/drawingml/2006/main">
              <a:ext uri="{FF2B5EF4-FFF2-40B4-BE49-F238E27FC236}">
                <a16:creationId xmlns:a16="http://schemas.microsoft.com/office/drawing/2014/main" id="{8672D81E-B047-4CF5-9A8D-5EB280C0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统一实验记录</a:t>
            </a:r>
          </a:p>
        </p:txBody>
      </p:sp>
      <p:sp>
        <p:nvSpPr>
          <p:cNvPr id="8" name="保存案例ID、输入、选区、方法、参数、候选与结果状态">
            <a:extLst xmlns:a="http://schemas.openxmlformats.org/drawingml/2006/main">
              <a:ext uri="{FF2B5EF4-FFF2-40B4-BE49-F238E27FC236}">
                <a16:creationId xmlns:a16="http://schemas.microsoft.com/office/drawing/2014/main" id="{E6D29AEC-1995-46B1-9391-0D7D447B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保存案例ID、输入、选区、方法、参数、候选与结果状态</a:t>
            </a:r>
          </a:p>
        </p:txBody>
      </p:sp>
      <p:sp>
        <p:nvSpPr>
          <p:cNvPr id="9" name="结果汇总">
            <a:extLst xmlns:a="http://schemas.openxmlformats.org/drawingml/2006/main">
              <a:ext uri="{FF2B5EF4-FFF2-40B4-BE49-F238E27FC236}">
                <a16:creationId xmlns:a16="http://schemas.microsoft.com/office/drawing/2014/main" id="{579D2E0F-BB41-43E9-A988-DF29F6E8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结果汇总</a:t>
            </a:r>
          </a:p>
        </p:txBody>
      </p:sp>
      <p:sp>
        <p:nvSpPr>
          <p:cNvPr id="10" name="全员核对图表出处，历史指标与正式测试分开归档">
            <a:extLst xmlns:a="http://schemas.openxmlformats.org/drawingml/2006/main">
              <a:ext uri="{FF2B5EF4-FFF2-40B4-BE49-F238E27FC236}">
                <a16:creationId xmlns:a16="http://schemas.microsoft.com/office/drawing/2014/main" id="{45797D69-CAD2-42BC-B852-8793319D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全员核对图表出处，历史指标与正式测试分开归档</a:t>
            </a:r>
          </a:p>
        </p:txBody>
      </p:sp>
    </p:spTree>
    <p:extLst>
      <p:ext uri="{BB962C8B-B14F-4D97-AF65-F5344CB8AC3E}">
        <p14:creationId xmlns:p14="http://schemas.microsoft.com/office/powerpoint/2010/main" val="54244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交叉验收与研究风险">
            <a:extLst xmlns:a="http://schemas.openxmlformats.org/drawingml/2006/main">
              <a:ext uri="{FF2B5EF4-FFF2-40B4-BE49-F238E27FC236}">
                <a16:creationId xmlns:a16="http://schemas.microsoft.com/office/drawing/2014/main" id="{B4C7F836-4383-49DF-B4F8-DE68B030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交叉验收与研究风险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CE60FD11-C278-44A9-872D-DCE81297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45E4E-43D1-4F39-BDD9-746401D2425F}"/>
              </a:ext>
            </a:extLst>
          </p:cNvPr>
          <p:cNvGraphicFramePr/>
          <p:nvPr/>
        </p:nvGraphicFramePr>
        <p:xfrm>
          <a:off xmlns:a="http://schemas.openxmlformats.org/drawingml/2006/main" x="457200" y="1143000"/>
          <a:ext xmlns:a="http://schemas.openxmlformats.org/drawingml/2006/main" cx="82296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0675"/>
                <a:gridCol w="3505200"/>
                <a:gridCol w="3133725"/>
              </a:tblGrid>
              <a:tr h="544513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交叉检查安排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处理原则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44513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选区误选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交付，E 对照 GT，C 检查编辑影响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定位与编辑错误分开记录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513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检测器验收偏差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交付，A、D 做隐藏标签检查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自动检出仅为诊断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44513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界面混用旧状态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交付，B、E 重复操作检查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异常提示，输入变化清空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513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评价口径不一致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汇总，A 与 C 独立核对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保留分母、失败与版本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44513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只有一人能答辩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全员互讲与随机提问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每人讲清本模块和一条完整案例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7735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本次讨论需要确认的事项">
            <a:extLst xmlns:a="http://schemas.openxmlformats.org/drawingml/2006/main">
              <a:ext uri="{FF2B5EF4-FFF2-40B4-BE49-F238E27FC236}">
                <a16:creationId xmlns:a16="http://schemas.microsoft.com/office/drawing/2014/main" id="{4FDE571C-9A56-4CEB-9E7A-DCF3CB26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本次讨论需要确认的事项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FD897A7-12E5-44B8-AA40-1675F79B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人员与任务">
            <a:extLst xmlns:a="http://schemas.openxmlformats.org/drawingml/2006/main">
              <a:ext uri="{FF2B5EF4-FFF2-40B4-BE49-F238E27FC236}">
                <a16:creationId xmlns:a16="http://schemas.microsoft.com/office/drawing/2014/main" id="{E485A461-E28F-4B25-B8B1-AC1F262A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442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人员与任务</a:t>
            </a:r>
          </a:p>
        </p:txBody>
      </p:sp>
      <p:sp>
        <p:nvSpPr>
          <p:cNvPr id="4" name="替换 A–E 为实际姓名，确认主责与备份协作人">
            <a:extLst xmlns:a="http://schemas.openxmlformats.org/drawingml/2006/main">
              <a:ext uri="{FF2B5EF4-FFF2-40B4-BE49-F238E27FC236}">
                <a16:creationId xmlns:a16="http://schemas.microsoft.com/office/drawing/2014/main" id="{F0DFC224-EAB7-4475-A93E-25F52422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替换 A–E 为实际姓名，确认主责与备份协作人</a:t>
            </a:r>
          </a:p>
        </p:txBody>
      </p:sp>
      <p:sp>
        <p:nvSpPr>
          <p:cNvPr id="5" name="实验口径">
            <a:extLst xmlns:a="http://schemas.openxmlformats.org/drawingml/2006/main">
              <a:ext uri="{FF2B5EF4-FFF2-40B4-BE49-F238E27FC236}">
                <a16:creationId xmlns:a16="http://schemas.microsoft.com/office/drawing/2014/main" id="{02314E5B-4747-4D9F-A739-30E90CA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实验口径</a:t>
            </a:r>
          </a:p>
        </p:txBody>
      </p:sp>
      <p:sp>
        <p:nvSpPr>
          <p:cNvPr id="6" name="确认目标范围、评分标准、冻结节点和评审分工">
            <a:extLst xmlns:a="http://schemas.openxmlformats.org/drawingml/2006/main">
              <a:ext uri="{FF2B5EF4-FFF2-40B4-BE49-F238E27FC236}">
                <a16:creationId xmlns:a16="http://schemas.microsoft.com/office/drawing/2014/main" id="{EFAF5FB2-80CB-4851-B56A-2DB94E85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确认目标范围、评分标准、冻结节点和评审分工</a:t>
            </a:r>
          </a:p>
        </p:txBody>
      </p:sp>
      <p:sp>
        <p:nvSpPr>
          <p:cNvPr id="7" name="中期安排">
            <a:extLst xmlns:a="http://schemas.openxmlformats.org/drawingml/2006/main">
              <a:ext uri="{FF2B5EF4-FFF2-40B4-BE49-F238E27FC236}">
                <a16:creationId xmlns:a16="http://schemas.microsoft.com/office/drawing/2014/main" id="{0BE2C479-7136-4637-B8C7-49F2831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中期安排</a:t>
            </a:r>
          </a:p>
        </p:txBody>
      </p:sp>
      <p:sp>
        <p:nvSpPr>
          <p:cNvPr id="8" name="核对学校时间与汇报时长，确定例会和两次彩排">
            <a:extLst xmlns:a="http://schemas.openxmlformats.org/drawingml/2006/main">
              <a:ext uri="{FF2B5EF4-FFF2-40B4-BE49-F238E27FC236}">
                <a16:creationId xmlns:a16="http://schemas.microsoft.com/office/drawing/2014/main" id="{6ACB9779-E131-4362-9BC1-1C12655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核对学校时间与汇报时长，确定例会和两次彩排</a:t>
            </a:r>
          </a:p>
        </p:txBody>
      </p:sp>
      <p:sp>
        <p:nvSpPr>
          <p:cNvPr id="9" name="成果边界">
            <a:extLst xmlns:a="http://schemas.openxmlformats.org/drawingml/2006/main">
              <a:ext uri="{FF2B5EF4-FFF2-40B4-BE49-F238E27FC236}">
                <a16:creationId xmlns:a16="http://schemas.microsoft.com/office/drawing/2014/main" id="{32E1EB1B-5BC8-4C12-8610-81FB3253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成果边界</a:t>
            </a:r>
          </a:p>
        </p:txBody>
      </p:sp>
      <p:sp>
        <p:nvSpPr>
          <p:cNvPr id="10" name="按真实记录认定个人贡献，统一已完成与计划中的表述">
            <a:extLst xmlns:a="http://schemas.openxmlformats.org/drawingml/2006/main">
              <a:ext uri="{FF2B5EF4-FFF2-40B4-BE49-F238E27FC236}">
                <a16:creationId xmlns:a16="http://schemas.microsoft.com/office/drawing/2014/main" id="{2AA5491C-937F-4345-AE22-6C7252A3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按真实记录认定个人贡献，统一已完成与计划中的表述</a:t>
            </a:r>
          </a:p>
        </p:txBody>
      </p:sp>
    </p:spTree>
    <p:extLst>
      <p:ext uri="{BB962C8B-B14F-4D97-AF65-F5344CB8AC3E}">
        <p14:creationId xmlns:p14="http://schemas.microsoft.com/office/powerpoint/2010/main" val="202378827"/>
      </p:ext>
    </p:extLst>
  </p:cSld>
</p:sld>
</file>

<file path=ppt/theme/theme1.xml><?xml version="1.0" encoding="utf-8"?>
<a:theme xmlns:a="http://schemas.openxmlformats.org/drawingml/2006/main" name="ImageEdit">
  <a:themeElements>
    <a:clrScheme name="ImageEdit">
      <a:dk1>
        <a:srgbClr val="1A2033"/>
      </a:dk1>
      <a:lt1>
        <a:srgbClr val="FFFFFF"/>
      </a:lt1>
      <a:dk2>
        <a:srgbClr val="141B2D"/>
      </a:dk2>
      <a:lt2>
        <a:srgbClr val="EEF2F8"/>
      </a:lt2>
      <a:accent1>
        <a:srgbClr val="FF6B4A"/>
      </a:accent1>
      <a:accent2>
        <a:srgbClr val="2EC4B6"/>
      </a:accent2>
      <a:accent3>
        <a:srgbClr val="5B6B8C"/>
      </a:accent3>
      <a:accent4>
        <a:srgbClr val="FFB547"/>
      </a:accent4>
      <a:accent5>
        <a:srgbClr val="8E9AB5"/>
      </a:accent5>
      <a:accent6>
        <a:srgbClr val="C9D3E6"/>
      </a:accent6>
      <a:hlink>
        <a:srgbClr val="2EC4B6"/>
      </a:hlink>
      <a:folHlink>
        <a:srgbClr val="5B6B8C"/>
      </a:folHlink>
    </a:clrScheme>
    <a:fontScheme name="ImageEdi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ImageEd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2026-10-18T16:30:40.9630000Z</dcterms:created>
  <dcterms:modified xsi:type="dcterms:W3CDTF">2026-10-18T16:30:40.9630000Z</dcterms:modified>
</coreProperties>
</file>