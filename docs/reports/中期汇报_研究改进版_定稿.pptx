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05f7dbf9ee4c41" /><Relationship Type="http://schemas.openxmlformats.org/officeDocument/2006/relationships/extended-properties" Target="/docProps/app.xml" Id="R1dfb6969c6d7435d" /><Relationship Type="http://schemas.openxmlformats.org/officeDocument/2006/relationships/officeDocument" Target="/ppt/presentation.xml" Id="R6de99ff38d994e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7c3ad989974f8e"/>
  </p:sldMasterIdLst>
  <p:notesMasterIdLst>
    <p:notesMasterId xmlns:r="http://schemas.openxmlformats.org/officeDocument/2006/relationships" r:id="Racdd6b0670b94cd4"/>
  </p:notesMasterIdLst>
  <p:sldIdLst>
    <p:sldId xmlns:r="http://schemas.openxmlformats.org/officeDocument/2006/relationships" id="256" r:id="R778470d9aa304362"/>
    <p:sldId xmlns:r="http://schemas.openxmlformats.org/officeDocument/2006/relationships" id="257" r:id="R90f929fae16b41d9"/>
    <p:sldId xmlns:r="http://schemas.openxmlformats.org/officeDocument/2006/relationships" id="258" r:id="R89f1b1d74627404e"/>
    <p:sldId xmlns:r="http://schemas.openxmlformats.org/officeDocument/2006/relationships" id="259" r:id="R4a799b01c98c4abc"/>
    <p:sldId xmlns:r="http://schemas.openxmlformats.org/officeDocument/2006/relationships" id="260" r:id="R8c0709958fa948e9"/>
    <p:sldId xmlns:r="http://schemas.openxmlformats.org/officeDocument/2006/relationships" id="261" r:id="Ra658e5e2668b43ba"/>
    <p:sldId xmlns:r="http://schemas.openxmlformats.org/officeDocument/2006/relationships" id="262" r:id="Rea9cd739f9de4303"/>
    <p:sldId xmlns:r="http://schemas.openxmlformats.org/officeDocument/2006/relationships" id="263" r:id="R1da80d85791d4d8e"/>
    <p:sldId xmlns:r="http://schemas.openxmlformats.org/officeDocument/2006/relationships" id="264" r:id="R98e33e42b0ad471f"/>
    <p:sldId xmlns:r="http://schemas.openxmlformats.org/officeDocument/2006/relationships" id="265" r:id="Re41ad907a245489b"/>
    <p:sldId xmlns:r="http://schemas.openxmlformats.org/officeDocument/2006/relationships" id="266" r:id="R24b7a1c331764968"/>
    <p:sldId xmlns:r="http://schemas.openxmlformats.org/officeDocument/2006/relationships" id="267" r:id="Rbd87253fdf1b4316"/>
    <p:sldId xmlns:r="http://schemas.openxmlformats.org/officeDocument/2006/relationships" id="268" r:id="Rbe780b153361432d"/>
    <p:sldId xmlns:r="http://schemas.openxmlformats.org/officeDocument/2006/relationships" id="269" r:id="R41c40142d195423b"/>
    <p:sldId xmlns:r="http://schemas.openxmlformats.org/officeDocument/2006/relationships" id="270" r:id="Rce7d3960f4034f6e"/>
    <p:sldId xmlns:r="http://schemas.openxmlformats.org/officeDocument/2006/relationships" id="271" r:id="R58595594c199431c"/>
    <p:sldId xmlns:r="http://schemas.openxmlformats.org/officeDocument/2006/relationships" id="272" r:id="Rdb22d12d383d4602"/>
    <p:sldId xmlns:r="http://schemas.openxmlformats.org/officeDocument/2006/relationships" id="273" r:id="Re09ab22bbe564d20"/>
    <p:sldId xmlns:r="http://schemas.openxmlformats.org/officeDocument/2006/relationships" id="274" r:id="R4772e17d26cc4851"/>
    <p:sldId xmlns:r="http://schemas.openxmlformats.org/officeDocument/2006/relationships" id="275" r:id="R7994a99f7dca4b77"/>
    <p:sldId xmlns:r="http://schemas.openxmlformats.org/officeDocument/2006/relationships" id="276" r:id="R977b57845d6940d0"/>
    <p:sldId xmlns:r="http://schemas.openxmlformats.org/officeDocument/2006/relationships" id="277" r:id="R6286f18b05a84c17"/>
    <p:sldId xmlns:r="http://schemas.openxmlformats.org/officeDocument/2006/relationships" id="278" r:id="R4b57744a621e4ba6"/>
    <p:sldId xmlns:r="http://schemas.openxmlformats.org/officeDocument/2006/relationships" id="279" r:id="Re17daa80676e4af1"/>
    <p:sldId xmlns:r="http://schemas.openxmlformats.org/officeDocument/2006/relationships" id="280" r:id="R33773fd267c24f98"/>
    <p:sldId xmlns:r="http://schemas.openxmlformats.org/officeDocument/2006/relationships" id="281" r:id="R6f56abfa963141a8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985abe6fc04ce4" /><Relationship Type="http://schemas.openxmlformats.org/officeDocument/2006/relationships/slideMaster" Target="/ppt/slideMasters/slideMaster1.xml" Id="R8a7c3ad989974f8e" /><Relationship Type="http://schemas.openxmlformats.org/officeDocument/2006/relationships/notesMaster" Target="/ppt/notesMasters/notesMaster1.xml" Id="Racdd6b0670b94cd4" /><Relationship Type="http://schemas.openxmlformats.org/officeDocument/2006/relationships/presProps" Target="/ppt/presProps.xml" Id="Ra1bb9ab678a9446c" /><Relationship Type="http://schemas.openxmlformats.org/officeDocument/2006/relationships/viewProps" Target="/ppt/viewProps.xml" Id="R24c00ceb2c444808" /><Relationship Type="http://schemas.openxmlformats.org/officeDocument/2006/relationships/tableStyles" Target="/ppt/tableStyles.xml" Id="R690c1d95ef0d45bc" /><Relationship Type="http://schemas.openxmlformats.org/officeDocument/2006/relationships/slide" Target="/ppt/slides/slide1.xml" Id="R778470d9aa304362" /><Relationship Type="http://schemas.openxmlformats.org/officeDocument/2006/relationships/slide" Target="/ppt/slides/slide2.xml" Id="R90f929fae16b41d9" /><Relationship Type="http://schemas.openxmlformats.org/officeDocument/2006/relationships/slide" Target="/ppt/slides/slide3.xml" Id="R89f1b1d74627404e" /><Relationship Type="http://schemas.openxmlformats.org/officeDocument/2006/relationships/slide" Target="/ppt/slides/slide4.xml" Id="R4a799b01c98c4abc" /><Relationship Type="http://schemas.openxmlformats.org/officeDocument/2006/relationships/slide" Target="/ppt/slides/slide5.xml" Id="R8c0709958fa948e9" /><Relationship Type="http://schemas.openxmlformats.org/officeDocument/2006/relationships/slide" Target="/ppt/slides/slide6.xml" Id="Ra658e5e2668b43ba" /><Relationship Type="http://schemas.openxmlformats.org/officeDocument/2006/relationships/slide" Target="/ppt/slides/slide7.xml" Id="Rea9cd739f9de4303" /><Relationship Type="http://schemas.openxmlformats.org/officeDocument/2006/relationships/slide" Target="/ppt/slides/slide8.xml" Id="R1da80d85791d4d8e" /><Relationship Type="http://schemas.openxmlformats.org/officeDocument/2006/relationships/slide" Target="/ppt/slides/slide9.xml" Id="R98e33e42b0ad471f" /><Relationship Type="http://schemas.openxmlformats.org/officeDocument/2006/relationships/slide" Target="/ppt/slides/slide10.xml" Id="Re41ad907a245489b" /><Relationship Type="http://schemas.openxmlformats.org/officeDocument/2006/relationships/slide" Target="/ppt/slides/slide11.xml" Id="R24b7a1c331764968" /><Relationship Type="http://schemas.openxmlformats.org/officeDocument/2006/relationships/slide" Target="/ppt/slides/slide12.xml" Id="Rbd87253fdf1b4316" /><Relationship Type="http://schemas.openxmlformats.org/officeDocument/2006/relationships/slide" Target="/ppt/slides/slide13.xml" Id="Rbe780b153361432d" /><Relationship Type="http://schemas.openxmlformats.org/officeDocument/2006/relationships/slide" Target="/ppt/slides/slide14.xml" Id="R41c40142d195423b" /><Relationship Type="http://schemas.openxmlformats.org/officeDocument/2006/relationships/slide" Target="/ppt/slides/slide15.xml" Id="Rce7d3960f4034f6e" /><Relationship Type="http://schemas.openxmlformats.org/officeDocument/2006/relationships/slide" Target="/ppt/slides/slide16.xml" Id="R58595594c199431c" /><Relationship Type="http://schemas.openxmlformats.org/officeDocument/2006/relationships/slide" Target="/ppt/slides/slide17.xml" Id="Rdb22d12d383d4602" /><Relationship Type="http://schemas.openxmlformats.org/officeDocument/2006/relationships/slide" Target="/ppt/slides/slide18.xml" Id="Re09ab22bbe564d20" /><Relationship Type="http://schemas.openxmlformats.org/officeDocument/2006/relationships/slide" Target="/ppt/slides/slide19.xml" Id="R4772e17d26cc4851" /><Relationship Type="http://schemas.openxmlformats.org/officeDocument/2006/relationships/slide" Target="/ppt/slides/slide20.xml" Id="R7994a99f7dca4b77" /><Relationship Type="http://schemas.openxmlformats.org/officeDocument/2006/relationships/slide" Target="/ppt/slides/slide21.xml" Id="R977b57845d6940d0" /><Relationship Type="http://schemas.openxmlformats.org/officeDocument/2006/relationships/slide" Target="/ppt/slides/slide22.xml" Id="R6286f18b05a84c17" /><Relationship Type="http://schemas.openxmlformats.org/officeDocument/2006/relationships/slide" Target="/ppt/slides/slide23.xml" Id="R4b57744a621e4ba6" /><Relationship Type="http://schemas.openxmlformats.org/officeDocument/2006/relationships/slide" Target="/ppt/slides/slide24.xml" Id="Re17daa80676e4af1" /><Relationship Type="http://schemas.openxmlformats.org/officeDocument/2006/relationships/slide" Target="/ppt/slides/slide25.xml" Id="R33773fd267c24f98" /><Relationship Type="http://schemas.openxmlformats.org/officeDocument/2006/relationships/slide" Target="/ppt/slides/slide26.xml" Id="R6f56abfa963141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fde65a8fee48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Edit">
  <a:themeElements>
    <a:clrScheme name="ImageEdit">
      <a:dk1>
        <a:srgbClr val="1A2033"/>
      </a:dk1>
      <a:lt1>
        <a:srgbClr val="FFFFFF"/>
      </a:lt1>
      <a:dk2>
        <a:srgbClr val="141B2D"/>
      </a:dk2>
      <a:lt2>
        <a:srgbClr val="EEF2F8"/>
      </a:lt2>
      <a:accent1>
        <a:srgbClr val="FF6B4A"/>
      </a:accent1>
      <a:accent2>
        <a:srgbClr val="2EC4B6"/>
      </a:accent2>
      <a:accent3>
        <a:srgbClr val="5B6B8C"/>
      </a:accent3>
      <a:accent4>
        <a:srgbClr val="FFB547"/>
      </a:accent4>
      <a:accent5>
        <a:srgbClr val="8E9AB5"/>
      </a:accent5>
      <a:accent6>
        <a:srgbClr val="C9D3E6"/>
      </a:accent6>
      <a:hlink>
        <a:srgbClr val="2EC4B6"/>
      </a:hlink>
      <a:folHlink>
        <a:srgbClr val="5B6B8C"/>
      </a:folHlink>
    </a:clrScheme>
    <a:fontScheme name="ImageEdit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ImageEdi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53ae0148144e24" /><Relationship Type="http://schemas.openxmlformats.org/officeDocument/2006/relationships/notesMaster" Target="/ppt/notesMasters/notesMaster1.xml" Id="R140f6c2f66294c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dbe8cd44d54773" /><Relationship Type="http://schemas.openxmlformats.org/officeDocument/2006/relationships/notesMaster" Target="/ppt/notesMasters/notesMaster1.xml" Id="Rf1384388814c45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3907ca23fb4cc0" /><Relationship Type="http://schemas.openxmlformats.org/officeDocument/2006/relationships/notesMaster" Target="/ppt/notesMasters/notesMaster1.xml" Id="Rc3080601683544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37ea199c7f4234" /><Relationship Type="http://schemas.openxmlformats.org/officeDocument/2006/relationships/notesMaster" Target="/ppt/notesMasters/notesMaster1.xml" Id="R2d311102231c4c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0fd34dabb24796" /><Relationship Type="http://schemas.openxmlformats.org/officeDocument/2006/relationships/notesMaster" Target="/ppt/notesMasters/notesMaster1.xml" Id="Re922e622c62949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229a3bd80846ff" /><Relationship Type="http://schemas.openxmlformats.org/officeDocument/2006/relationships/notesMaster" Target="/ppt/notesMasters/notesMaster1.xml" Id="R7072ec3bc3a740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7ddf669bee4f20" /><Relationship Type="http://schemas.openxmlformats.org/officeDocument/2006/relationships/notesMaster" Target="/ppt/notesMasters/notesMaster1.xml" Id="R694938abdfd94c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2d2bf4ae8e445d" /><Relationship Type="http://schemas.openxmlformats.org/officeDocument/2006/relationships/notesMaster" Target="/ppt/notesMasters/notesMaster1.xml" Id="R5d59a34bca774d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0375d284914788" /><Relationship Type="http://schemas.openxmlformats.org/officeDocument/2006/relationships/notesMaster" Target="/ppt/notesMasters/notesMaster1.xml" Id="Rcfdda04bdbd643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33ab3aec5b4010" /><Relationship Type="http://schemas.openxmlformats.org/officeDocument/2006/relationships/notesMaster" Target="/ppt/notesMasters/notesMaster1.xml" Id="R3997a1c8f3b14e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eb754650a754a71" /><Relationship Type="http://schemas.openxmlformats.org/officeDocument/2006/relationships/notesMaster" Target="/ppt/notesMasters/notesMaster1.xml" Id="R7536437966c340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cbf10f82704a26" /><Relationship Type="http://schemas.openxmlformats.org/officeDocument/2006/relationships/notesMaster" Target="/ppt/notesMasters/notesMaster1.xml" Id="Rcbed0577f20446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393c3c09b140df" /><Relationship Type="http://schemas.openxmlformats.org/officeDocument/2006/relationships/notesMaster" Target="/ppt/notesMasters/notesMaster1.xml" Id="Rfe429ea1459443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45e75ba41644caa" /><Relationship Type="http://schemas.openxmlformats.org/officeDocument/2006/relationships/notesMaster" Target="/ppt/notesMasters/notesMaster1.xml" Id="R84a5407b4e2d405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eb329a17994d5f" /><Relationship Type="http://schemas.openxmlformats.org/officeDocument/2006/relationships/notesMaster" Target="/ppt/notesMasters/notesMaster1.xml" Id="R10b992345c514d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acec8ced4f742a4" /><Relationship Type="http://schemas.openxmlformats.org/officeDocument/2006/relationships/notesMaster" Target="/ppt/notesMasters/notesMaster1.xml" Id="Reede62d2120c4b0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9d9e606bf849c6" /><Relationship Type="http://schemas.openxmlformats.org/officeDocument/2006/relationships/notesMaster" Target="/ppt/notesMasters/notesMaster1.xml" Id="Rf1ac6c99be2f43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437f8094ccd4d10" /><Relationship Type="http://schemas.openxmlformats.org/officeDocument/2006/relationships/notesMaster" Target="/ppt/notesMasters/notesMaster1.xml" Id="R1e233e47f3e248e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f9e6c61dcfb48b1" /><Relationship Type="http://schemas.openxmlformats.org/officeDocument/2006/relationships/notesMaster" Target="/ppt/notesMasters/notesMaster1.xml" Id="R3d6d219b65554e6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3921ec4e7184914" /><Relationship Type="http://schemas.openxmlformats.org/officeDocument/2006/relationships/notesMaster" Target="/ppt/notesMasters/notesMaster1.xml" Id="R93581546299c4fa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b7f66a8b84642b5" /><Relationship Type="http://schemas.openxmlformats.org/officeDocument/2006/relationships/notesMaster" Target="/ppt/notesMasters/notesMaster1.xml" Id="Rd2a28d9ac6a6473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fc01f8d23b14927" /><Relationship Type="http://schemas.openxmlformats.org/officeDocument/2006/relationships/notesMaster" Target="/ppt/notesMasters/notesMaster1.xml" Id="R04f56bce36874fa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0b9d9c89e354351" /><Relationship Type="http://schemas.openxmlformats.org/officeDocument/2006/relationships/notesMaster" Target="/ppt/notesMasters/notesMaster1.xml" Id="R5db01b8318c3431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cad8b2f219846e5" /><Relationship Type="http://schemas.openxmlformats.org/officeDocument/2006/relationships/notesMaster" Target="/ppt/notesMasters/notesMaster1.xml" Id="R153eb5d9d8d34e6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2a778bf1d8945f9" /><Relationship Type="http://schemas.openxmlformats.org/officeDocument/2006/relationships/notesMaster" Target="/ppt/notesMasters/notesMaster1.xml" Id="Rb996122a66e248f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f250d477b2043dd" /><Relationship Type="http://schemas.openxmlformats.org/officeDocument/2006/relationships/notesMaster" Target="/ppt/notesMasters/notesMaster1.xml" Id="R06a8b4dabeda4a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。我们的项目研究如何根据一句话，只修改图片中指定的对象，同时尽量保留其余内容。目前已经完成三类局部编辑流程，并针对选区不准、多目标漏编辑和内容误修改进行了改进。今天介绍研究问题、方法、阶段性证据和下一步验证计划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看这张滑雪者图片，指令只要求把外套改成蓝色。原稿的全图编辑基线还改变了雪地色调。这说明语义正确和局部可控是两个不同要求。我们希望把修改范围显式交给选区管理，再分别判断目标有没有改对、无关内容有没有受到影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资料来源与证据</a:t>
            </a:r>
            <a:endParaRPr/>
          </a:p>
          <a:p xmlns:a="http://schemas.openxmlformats.org/drawingml/2006/main">
            <a:r>
              <a:t>原始《中期汇报》第3页的原图与基线输出。方法背景：https://arxiv.org/abs/2211.09800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把课题收敛到改色、删除和替换三类任务。三个任务的成功标准不同，例如换颜色要保留纹理，删除要补出合理背景，替换还要考虑对象数量。当前自动流程不可靠地理解“左边第二个”这种精细选择，因此需要人工选区辅助，不能把它描述成支持任意自然语言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条研究路径来自实际失败，而不是先堆砌模型。最初发现选区和生成混在一起，很难判断原因，于是先分开检查定位。改色不需要重新生成形状，删除也不需要引入新类别，所以采用不同处理方法。多目标替换仍然困难，再加入逐区域处理与有上限重试。最后还需要独立测试来验证这些改进是否稳定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资料来源与证据</a:t>
            </a:r>
            <a:endParaRPr/>
          </a:p>
          <a:p xmlns:a="http://schemas.openxmlformats.org/drawingml/2006/main">
            <a:r>
              <a:t>本地记录：debug_improved/本轮优化说明.md、debug_improved/自测改进说明.md。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把系统理解成四个连续决策。第一步决定要做什么，第二步决定在哪里做，第三步决定用什么方法，第四步控制结果并留下记录。最终输出不只是图片，还有解析意图、选区、参数以及替换候选，便于追踪错误来自哪一层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“把外套换成蓝色”在句式上像替换，但新内容只是颜色，程序会把动作改判为改色。目标 jacket 交给定位模块，blue 交给改色模块。规则解析容易检查，也受词表和句式覆盖限制。现有 LLM 是可选接口，当前主要验证没有证明它更准确，所以不能把它说成已验证的核心贡献。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资料来源与证据</a:t>
            </a:r>
            <a:endParaRPr/>
          </a:p>
          <a:p xmlns:a="http://schemas.openxmlformats.org/drawingml/2006/main">
            <a:r>
              <a:t>代码：debug_improved/core/instruction_parser.py。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原稿使用 CLIPSeg 根据目标词预测区域。当前先用 Grounding DINO 找到每个对象框，再用框提示 SAM 得到更细的实例掩码。这里展示的是同一猫案例的阶段差异。实例分割还保留每只猫的独立身份，后面才能逐个编辑。分割模型输出的预测 IoU 是内部置信估计，不能替代与独立标注计算的真实 IoU。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资料来源与证据</a:t>
            </a:r>
            <a:endParaRPr/>
          </a:p>
          <a:p xmlns:a="http://schemas.openxmlformats.org/drawingml/2006/main">
            <a:r>
              <a:t>https://arxiv.org/abs/2112.10003</a:t>
            </a:r>
            <a:endParaRPr/>
          </a:p>
          <a:p xmlns:a="http://schemas.openxmlformats.org/drawingml/2006/main">
            <a:r>
              <a:t>https://arxiv.org/abs/2303.05499</a:t>
            </a:r>
            <a:endParaRPr/>
          </a:p>
          <a:p xmlns:a="http://schemas.openxmlformats.org/drawingml/2006/main">
            <a:r>
              <a:t>https://arxiv.org/abs/2304.02643</a:t>
            </a:r>
            <a:endParaRPr/>
          </a:p>
          <a:p xmlns:a="http://schemas.openxmlformats.org/drawingml/2006/main">
            <a:r>
              <a:t>案例：原稿第6页与当前 release_http/dev_cat_replace。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类任务需要的自由度不同。颜色变换没有必要重画衣服的褶皱，删除主要需要合理背景，替换才需要新对象。现在由动作类别选择处理方法。这样减少了不必要的生成，但也失去了“一个模型统一完成所有任务”的简单性，需要在实验中同时比较正确性和代价。LaMa 是复用已有模型，不能作为我们发明的新网络。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资料来源与证据</a:t>
            </a:r>
            <a:endParaRPr/>
          </a:p>
          <a:p xmlns:a="http://schemas.openxmlformats.org/drawingml/2006/main">
            <a:r>
              <a:t>https://arxiv.org/abs/2109.07161</a:t>
            </a:r>
            <a:endParaRPr/>
          </a:p>
          <a:p xmlns:a="http://schemas.openxmlformats.org/drawingml/2006/main">
            <a:r>
              <a:t>https://arxiv.org/abs/2112.10752</a:t>
            </a:r>
            <a:endParaRPr/>
          </a:p>
          <a:p xmlns:a="http://schemas.openxmlformats.org/drawingml/2006/main">
            <a:r>
              <a:t>代码：core/appearance.py、core/removal.py、core/local_replace.py。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这里主要改变颜色，不重新合成人物。Lab 把明度和颜色信息分开，有利于保留原有光影。实现还会在主色足够可靠时保护白色条纹和深色装饰。需要注意，纯白或纯黑在原亮度下不一定能呈现饱和新颜色，所以极端明度会调整。我们不能承诺所有像素亮度完全不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资料来源与证据</a:t>
            </a:r>
            <a:endParaRPr/>
          </a:p>
          <a:p xmlns:a="http://schemas.openxmlformats.org/drawingml/2006/main">
            <a:r>
              <a:t>当前实测：release_http/dev_person_color。实现：core/appearance.py。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原型通过扩散模型删除时，有时会在空缺区域重新生成结构。当前把删除任务交给 LaMa 修补。这个案例更容易看出牌面消失，但支撑杆还在。老师若问是否删除完整，需要先说明标注目标到底是牌面还是整套标志。对象删除还可能破坏支撑关系，例如凳子删除后人物悬空，这仍是当前问题。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资料来源与证据</a:t>
            </a:r>
            <a:endParaRPr/>
          </a:p>
          <a:p xmlns:a="http://schemas.openxmlformats.org/drawingml/2006/main">
            <a:r>
              <a:t>同一开发案例的阶段对照，上一阶段 quality_release_v2/20261018_202004/dev_street_remove，当前 release_http/dev_street_remove。https://arxiv.org/abs/2109.07161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只猫直接合在一个大掩码中，模型可能把指令理解成只需要一个主要老虎。当前逐个实例裁剪处理，让每个对象都有独立的生成机会，再局部放回原图。这是案例改善，不能直接推断多目标问题已经解决。放大看仍有猫尾残留，说明新类别出现和完整替换不是同一个标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资料来源与证据</a:t>
            </a:r>
            <a:endParaRPr/>
          </a:p>
          <a:p xmlns:a="http://schemas.openxmlformats.org/drawingml/2006/main">
            <a:r>
              <a:t>原图与原稿第12页旧结果，当前 release_http/dev_cat_replace。实现：core/local_replace.py。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马换斑马案例首次生成后对象消失。系统在原目标区域没有检测到新类别，先换种子尝试，再改变裁剪参考尺度，最后出现斑马。每次重试都从原图取得生成上下文，并把已经接受的结果保留。当前接受依据只是“确认区域数量增加”，不包含完整的审美或解剖评分，因此只能叫结果诊断，不能叫自动证明成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资料来源与证据</a:t>
            </a:r>
            <a:endParaRPr/>
          </a:p>
          <a:p xmlns:a="http://schemas.openxmlformats.org/drawingml/2006/main">
            <a:r>
              <a:t>当前 release_http/coco_dev_replace_000000016228/record.json 与 candidates。代码：core/result_check.py、core/editor.py。相关验证纠错研究：https://arxiv.org/abs/2401.15688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α等于零的像素完全保留原图，等于一时采用编辑候选，中间值用于平滑过渡。这里在容器选区中扣除了食物或汤的区域，减少内容物误染。这个保护策略仍然依赖检测和分割。即便选区外像素严格不变，错误选进来的区域仍然会被改动，所以背景保持不等于选区准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资料来源与证据</a:t>
            </a:r>
            <a:endParaRPr/>
          </a:p>
          <a:p xmlns:a="http://schemas.openxmlformats.org/drawingml/2006/main">
            <a:r>
              <a:t>案例：release_http/coco_dev_color_000000533206。实现：core/grounded_mask.py、core/appearance.py。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服务于研究流程。先预览选区，有误时人工修正，再执行编辑。此前有一个严重问题，是普通照片被当作黑白掩码，亮色雪地被大面积选中。现在自动模式不使用残留人工输入，人工模式检查掩码类型，切换输入还会清空旧状态。这属于实验可靠性与交互改进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资料来源与证据</a:t>
            </a:r>
            <a:endParaRPr/>
          </a:p>
          <a:p xmlns:a="http://schemas.openxmlformats.org/drawingml/2006/main">
            <a:r>
              <a:t>当前真实网页截图：outputs/self_test_v3/网页实际测试.jpg。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原稿只有三个演示案例。现在准备了二十张开发图和一百二十张预留测试图。开发集用于试错，其中十七张有独立的 COCO 目标标注。预留测试集每类四十张，截至当前记录未运行生成，也没有用于这轮调参。这些不是我们训练模型的数据。COCO 是检测分割数据，不能提供编辑后的唯一正确答案。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资料来源与证据</a:t>
            </a:r>
            <a:endParaRPr/>
          </a:p>
          <a:p xmlns:a="http://schemas.openxmlformats.org/drawingml/2006/main">
            <a:r>
              <a:t>data/manifest.json。数据背景：https://arxiv.org/abs/1405.0312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这些数字必须连同阶段和样本数一起讲。定位 IoU 在十七张独立标注开发图上由零点四九二提高到零点七二四。明度指标来自同一批五张改色图，表示光影结构更接近原图，但不等于颜色语义完全正确。这是第二轮记录，第三轮已经进一步修改生成流程，所以不能直接当成最终版本的正式测试成绩。原稿三个案例的百分之九十八背景改善没有沿用为当前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资料来源与证据</a:t>
            </a:r>
          </a:p>
          <a:p xmlns:a="http://schemas.openxmlformats.org/drawingml/2006/main">
            <a:r>
              <a:t>quality_release_v2/20261018_202004/summary.csv、comparison.csv；本轮优化说明.md。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轮通过真实网页接口完成二十例生成，并检查了输入一致性、输出尺寸以及完全保护位置的像素不变。四十一项回归检查验证程序行为。我们没有报告百分之百编辑成功率，因为两个替换案例被自动标为需复核，目视也发现缺陷。正式语义成功率还需要独立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资料来源与证据</a:t>
            </a:r>
          </a:p>
          <a:p xmlns:a="http://schemas.openxmlformats.org/drawingml/2006/main">
            <a:r>
              <a:t>self_test_v3/release_summary.json、release_http/results.json、ui_verification.json，自测改进说明.md。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失败案例可以帮助解释下一步研究。在杯子换碗中，五个选择区域只有三个确认到碗。动物案例还出现远处不自然的头部，并且源选区可能把地面当成目标。定位与验收使用同类检测器，可能共享错误。因此后续评价要引入独立标注和交叉人工检查，也要评价完整形态，不能只看检测分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资料来源与证据</a:t>
            </a:r>
          </a:p>
          <a:p xmlns:a="http://schemas.openxmlformats.org/drawingml/2006/main">
            <a:r>
              <a:t>release_http/coco_dev_replace_000000419974、coco_dev_replace_000000572408；自测改进说明.md。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作为大创项目，我们的贡献重点是围绕实际问题自主设计编辑流程，并通过实验研究这些设计是否有效。DINO、SAM 和 Stable Diffusion 的组合已有 Grounded SAM，LaMa 也是已有模型。验证后局部纠错也有相关研究。我们不能宣称首次发明这些思路，最值得继续研究的是轻量的实例对应约束与局部重试策略。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资料来源与证据</a:t>
            </a:r>
          </a:p>
          <a:p xmlns:a="http://schemas.openxmlformats.org/drawingml/2006/main">
            <a:r>
              <a:t>https://arxiv.org/abs/2401.14159</a:t>
            </a:r>
          </a:p>
          <a:p xmlns:a="http://schemas.openxmlformats.org/drawingml/2006/main">
            <a:r>
              <a:t>https://arxiv.org/abs/2109.07161</a:t>
            </a:r>
          </a:p>
          <a:p xmlns:a="http://schemas.openxmlformats.org/drawingml/2006/main">
            <a:r>
              <a:t>https://arxiv.org/abs/2401.15688</a:t>
            </a:r>
          </a:p>
          <a:p xmlns:a="http://schemas.openxmlformats.org/drawingml/2006/main">
            <a:r>
              <a:t>本页为针对当前实现的初步贡献判断，不构成穷尽性查新。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比较能说明整体方案是否实用，但不能说明哪一步起作用。为回答因果归因，我们还要固定其他设置，只改变一个模块。替换检查会增加生成次数，因此同时报告调用次数和时间，必要时加入相同预算的随机重试对照。对每张图配对比较，多个种子不能冒充独立的新图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资料来源与证据</a:t>
            </a:r>
          </a:p>
          <a:p xmlns:a="http://schemas.openxmlformats.org/drawingml/2006/main">
            <a:r>
              <a:t>本页为后续实验设计，尚未执行正式测试。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计划优先完成已有主线的验证，避免一边不停改方法，一边把测试集当开发集。十二月冻结版本后评价预留测试图，再准备一月中期考核。后续是否扩展 DiffEdit 或多轮编辑，应由研究问题决定，而不是把原计划中的每个模型都变成必须实现的清单。论文或软著属于拟推进成果，当前不能写成已经取得。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稿四人的最后一项把界面、数据和文档集中在一起。现在分成五人，由成员D负责交互与集成，成员E专门负责数据和评价，减少开发者自己证明自己成功的问题。这里是建议责任分配，不是未经确认的历史贡献认定。实际姓名和最终安排由团队确认，每个人都应能解释自己的模块与上下游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阶段成果是把一个可运行原型，逐步改成有任务区分、有实例处理、有失败记录的研究系统。开发案例说明部分问题有所改善，但尚不足以证明泛化。下一步将用独立测试和消融回答这些策略是否稳定有效、增加了多少代价，以及适用边界在哪里。谢谢各位老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老师追问指标，先回答它测什么，再回答它不测什么。IoU比较预测区域与标注区域的交并比，CLIP衡量语义接近程度，PSNR和LPIPS看区域变化。背景必须按独立任务标注定义，否则使用自己预测的掩码，容易把误改区域排除在评价之外。最终仍需要按任务定义检查目标正确性、形态和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资料来源与证据</a:t>
            </a:r>
          </a:p>
          <a:p xmlns:a="http://schemas.openxmlformats.org/drawingml/2006/main">
            <a:r>
              <a:t>定位 GT：data/manifest.json。CLIP： https://arxiv.org/abs/2103.00020 。LPIPS： https://arxiv.org/abs/1801.03924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阈值零点一五是宽松的框匹配诊断阈值，不是分割IoU合格线。候选接受只检查确认区域总数增加，并不强制之前每个匹配身份完全保持，因此还存在重叠和匹配变化风险。重试最多两轮也不等于总共只调用模型三次，多实例会分别生成。参数是开发设置，需要在开发集做敏感性分析，不能说理论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资料来源与证据</a:t>
            </a:r>
          </a:p>
          <a:p xmlns:a="http://schemas.openxmlformats.org/drawingml/2006/main">
            <a:r>
              <a:t>代码：core/result_check.py、core/editor.py、core/local_replace.py。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这些工作是技术来源，不是本项目取得的成果。当前文献对照支持我们明确已有技术和自己的流程设计边界，但不是穷尽性查新。若后续撰写论文，还要扩大相关工作覆盖并比较最接近的方案。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资料来源与证据</a:t>
            </a:r>
          </a:p>
          <a:p xmlns:a="http://schemas.openxmlformats.org/drawingml/2006/main">
            <a:r>
              <a:t>clipseg  https://arxiv.org/abs/2112.10003</a:t>
            </a:r>
          </a:p>
          <a:p xmlns:a="http://schemas.openxmlformats.org/drawingml/2006/main">
            <a:r>
              <a:t>dino  https://arxiv.org/abs/2303.05499</a:t>
            </a:r>
          </a:p>
          <a:p xmlns:a="http://schemas.openxmlformats.org/drawingml/2006/main">
            <a:r>
              <a:t>sam  https://arxiv.org/abs/2304.02643</a:t>
            </a:r>
          </a:p>
          <a:p xmlns:a="http://schemas.openxmlformats.org/drawingml/2006/main">
            <a:r>
              <a:t>grounded  https://arxiv.org/abs/2401.14159</a:t>
            </a:r>
          </a:p>
          <a:p xmlns:a="http://schemas.openxmlformats.org/drawingml/2006/main">
            <a:r>
              <a:t>sd  https://arxiv.org/abs/2112.10752</a:t>
            </a:r>
          </a:p>
          <a:p xmlns:a="http://schemas.openxmlformats.org/drawingml/2006/main">
            <a:r>
              <a:t>ip2p  https://arxiv.org/abs/2211.09800</a:t>
            </a:r>
          </a:p>
          <a:p xmlns:a="http://schemas.openxmlformats.org/drawingml/2006/main">
            <a:r>
              <a:t>lama  https://arxiv.org/abs/2109.07161</a:t>
            </a:r>
          </a:p>
          <a:p xmlns:a="http://schemas.openxmlformats.org/drawingml/2006/main">
            <a:r>
              <a:t>diffedit  https://arxiv.org/abs/2210.11427</a:t>
            </a:r>
          </a:p>
          <a:p xmlns:a="http://schemas.openxmlformats.org/drawingml/2006/main">
            <a:r>
              <a:t>agent  https://arxiv.org/abs/2401.15688</a:t>
            </a:r>
          </a:p>
          <a:p xmlns:a="http://schemas.openxmlformats.org/drawingml/2006/main">
            <a:r>
              <a:t>coco  https://arxiv.org/abs/1405.0312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a1e2d1a94e42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bf99a0c6448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79bfd9dfb4db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ARK">
    <p:bg>
      <p:bgPr>
        <a:solidFill xmlns:a="http://schemas.openxmlformats.org/drawingml/2006/main">
          <a:srgbClr val="14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D8AA0F3-47CD-4C4C-BEDF-BB360E4D4013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640080" y="1417320"/>
            <a:ext cx="786384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34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3400"/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4966DF6C-E772-4E6C-A4DE-2E51EECCBBE6}"/>
              </a:ext>
            </a:extLst>
          </p:cNvPr>
          <p:cNvSpPr>
            <a:spLocks xmlns:a="http://schemas.openxmlformats.org/drawingml/2006/main" noGrp="1"/>
          </p:cNvSpPr>
          <p:nvPr>
            <p:ph type="body" idx="101" hasCustomPrompt="1"/>
          </p:nvPr>
        </p:nvSpPr>
        <p:spPr>
          <a:xfrm xmlns:a="http://schemas.openxmlformats.org/drawingml/2006/main">
            <a:off x="640080" y="2743200"/>
            <a:ext cx="78638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1600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1600"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CONTEN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38D9819-EC7C-45AC-BB32-6C19D00731BC}"/>
              </a:ext>
            </a:extLst>
          </p:cNvPr>
          <p:cNvSpPr>
            <a:spLocks xmlns:a="http://schemas.openxmlformats.org/drawingml/2006/main" noGrp="1"/>
          </p:cNvSpPr>
          <p:nvPr>
            <p:ph type="title" idx="100" hasCustomPrompt="1"/>
          </p:nvPr>
        </p:nvSpPr>
        <p:spPr>
          <a:xfrm xmlns:a="http://schemas.openxmlformats.org/drawingml/2006/main">
            <a:off x="457200" y="274320"/>
            <a:ext cx="82296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2600" b="1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2600"/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13C8124-28D7-4FD6-9617-0B25557C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chemeClr val="accent5"/>
                </a:solidFill>
              </a:rPr>
              <a:t>基于扩散模型的图像编辑系统 · 中期汇报</a:t>
            </a:r>
            <a:endParaRPr sz="9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47F0408-8216-4F04-8479-59E2B375D03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E9AB5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1003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cfc43be5f54945" /><Relationship Type="http://schemas.openxmlformats.org/officeDocument/2006/relationships/slideLayout" Target="/ppt/slideLayouts/slideLayout1.xml" Id="R21fb9664e43246c6" /><Relationship Type="http://schemas.openxmlformats.org/officeDocument/2006/relationships/slideLayout" Target="/ppt/slideLayouts/slideLayout2.xml" Id="R6a7f1c5cdc4141b9" /><Relationship Type="http://schemas.openxmlformats.org/officeDocument/2006/relationships/slideLayout" Target="/ppt/slideLayouts/slideLayout3.xml" Id="R3ea8677fae95487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9C647AB7-FE2C-4D4B-80F5-7FB00900200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22960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8E9AB5"/>
                </a:solidFill>
              </a:defRPr>
            </a:lvl1pPr>
          </a:lstStyle>
          <a:p xmlns:a="http://schemas.openxmlformats.org/drawingml/2006/main">
            <a:pPr algn="r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fb9664e43246c6"/>
    <p:sldLayoutId xmlns:r="http://schemas.openxmlformats.org/officeDocument/2006/relationships" id="2147483650" r:id="R6a7f1c5cdc4141b9"/>
    <p:sldLayoutId xmlns:r="http://schemas.openxmlformats.org/officeDocument/2006/relationships" id="2147483651" r:id="R3ea8677fae95487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ImageEdit">
  <a:themeElements>
    <a:clrScheme name="ImageEdit">
      <a:dk1>
        <a:srgbClr val="1A2033"/>
      </a:dk1>
      <a:lt1>
        <a:srgbClr val="FFFFFF"/>
      </a:lt1>
      <a:dk2>
        <a:srgbClr val="141B2D"/>
      </a:dk2>
      <a:lt2>
        <a:srgbClr val="EEF2F8"/>
      </a:lt2>
      <a:accent1>
        <a:srgbClr val="FF6B4A"/>
      </a:accent1>
      <a:accent2>
        <a:srgbClr val="2EC4B6"/>
      </a:accent2>
      <a:accent3>
        <a:srgbClr val="5B6B8C"/>
      </a:accent3>
      <a:accent4>
        <a:srgbClr val="FFB547"/>
      </a:accent4>
      <a:accent5>
        <a:srgbClr val="8E9AB5"/>
      </a:accent5>
      <a:accent6>
        <a:srgbClr val="C9D3E6"/>
      </a:accent6>
      <a:hlink>
        <a:srgbClr val="2EC4B6"/>
      </a:hlink>
      <a:folHlink>
        <a:srgbClr val="5B6B8C"/>
      </a:folHlink>
    </a:clrScheme>
    <a:fontScheme name="ImageEdit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ImageEdi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4e567fc744701" /><Relationship Type="http://schemas.openxmlformats.org/officeDocument/2006/relationships/notesSlide" Target="/ppt/notesSlides/notesSlide1.xml" Id="Rc0263687298b4f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71caeddbe4be0" /><Relationship Type="http://schemas.openxmlformats.org/officeDocument/2006/relationships/image" Target="/ppt/media/image.png" Id="Ref02df07d4ec44e1" /><Relationship Type="http://schemas.openxmlformats.org/officeDocument/2006/relationships/image" Target="/ppt/media/image2.png" Id="R71f296787f7841f7" /><Relationship Type="http://schemas.openxmlformats.org/officeDocument/2006/relationships/notesSlide" Target="/ppt/notesSlides/notesSlide2.xml" Id="R8a2ce3c287fb4b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a752e835f4a8c" /><Relationship Type="http://schemas.openxmlformats.org/officeDocument/2006/relationships/notesSlide" Target="/ppt/notesSlides/notesSlide3.xml" Id="Rfe2a45be7e5c47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e6b2ec73b459e" /><Relationship Type="http://schemas.openxmlformats.org/officeDocument/2006/relationships/notesSlide" Target="/ppt/notesSlides/notesSlide4.xml" Id="Re4c00432094b41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f30f8fc914716" /><Relationship Type="http://schemas.openxmlformats.org/officeDocument/2006/relationships/notesSlide" Target="/ppt/notesSlides/notesSlide5.xml" Id="Rc26f82028de344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3c24b145a4829" /><Relationship Type="http://schemas.openxmlformats.org/officeDocument/2006/relationships/notesSlide" Target="/ppt/notesSlides/notesSlide6.xml" Id="R1b31640c8be84f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09ae5f9e04e6b" /><Relationship Type="http://schemas.openxmlformats.org/officeDocument/2006/relationships/image" Target="/ppt/media/image3.png" Id="R4e8ebf2013b44b8d" /><Relationship Type="http://schemas.openxmlformats.org/officeDocument/2006/relationships/image" Target="/ppt/media/image4.png" Id="R79606f2af5f5483d" /><Relationship Type="http://schemas.openxmlformats.org/officeDocument/2006/relationships/notesSlide" Target="/ppt/notesSlides/notesSlide7.xml" Id="R24fd40c5c4be43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ef205a50e45ac" /><Relationship Type="http://schemas.openxmlformats.org/officeDocument/2006/relationships/notesSlide" Target="/ppt/notesSlides/notesSlide8.xml" Id="Rea4db64fe54847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6049a93fa4b6d" /><Relationship Type="http://schemas.openxmlformats.org/officeDocument/2006/relationships/image" Target="/ppt/media/image5.png" Id="R1524d355dd594cc1" /><Relationship Type="http://schemas.openxmlformats.org/officeDocument/2006/relationships/image" Target="/ppt/media/image6.png" Id="R5a36b10bbc1b43e9" /><Relationship Type="http://schemas.openxmlformats.org/officeDocument/2006/relationships/notesSlide" Target="/ppt/notesSlides/notesSlide9.xml" Id="R51ef3a37c47040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8318500f1498d" /><Relationship Type="http://schemas.openxmlformats.org/officeDocument/2006/relationships/image" Target="/ppt/media/image7.png" Id="Rd69db5ffb2b64d38" /><Relationship Type="http://schemas.openxmlformats.org/officeDocument/2006/relationships/image" Target="/ppt/media/image8.png" Id="R448a6eca690c48ff" /><Relationship Type="http://schemas.openxmlformats.org/officeDocument/2006/relationships/image" Target="/ppt/media/image9.png" Id="R96f03fc2b9b7489c" /><Relationship Type="http://schemas.openxmlformats.org/officeDocument/2006/relationships/notesSlide" Target="/ppt/notesSlides/notesSlide10.xml" Id="Rdc5b1040da0848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1f81d63564636" /><Relationship Type="http://schemas.openxmlformats.org/officeDocument/2006/relationships/image" Target="/ppt/media/image10.png" Id="Ra0e4897a72934579" /><Relationship Type="http://schemas.openxmlformats.org/officeDocument/2006/relationships/image" Target="/ppt/media/image11.png" Id="R4c6b124dd51c449d" /><Relationship Type="http://schemas.openxmlformats.org/officeDocument/2006/relationships/image" Target="/ppt/media/image12.png" Id="Rccce2e427e2d49eb" /><Relationship Type="http://schemas.openxmlformats.org/officeDocument/2006/relationships/notesSlide" Target="/ppt/notesSlides/notesSlide11.xml" Id="R476770b3fd6248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141af59b74015" /><Relationship Type="http://schemas.openxmlformats.org/officeDocument/2006/relationships/image" Target="/ppt/media/image13.png" Id="Rce2033cf14584b1c" /><Relationship Type="http://schemas.openxmlformats.org/officeDocument/2006/relationships/image" Target="/ppt/media/image14.png" Id="R67f21b0f9f1645c0" /><Relationship Type="http://schemas.openxmlformats.org/officeDocument/2006/relationships/notesSlide" Target="/ppt/notesSlides/notesSlide12.xml" Id="R2ed4f2b2ba3841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af285b4d64183" /><Relationship Type="http://schemas.openxmlformats.org/officeDocument/2006/relationships/image" Target="/ppt/media/image15.png" Id="R93c55dc7e25e4d12" /><Relationship Type="http://schemas.openxmlformats.org/officeDocument/2006/relationships/image" Target="/ppt/media/image16.png" Id="Rf7b97b02a1b44ef3" /><Relationship Type="http://schemas.openxmlformats.org/officeDocument/2006/relationships/image" Target="/ppt/media/image17.png" Id="Ra9f8ad73e79a43e5" /><Relationship Type="http://schemas.openxmlformats.org/officeDocument/2006/relationships/notesSlide" Target="/ppt/notesSlides/notesSlide13.xml" Id="R96385e95d84a4d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1b857dd774681" /><Relationship Type="http://schemas.openxmlformats.org/officeDocument/2006/relationships/image" Target="/ppt/media/image.jpeg" Id="Rdafe1cf751fa4645" /><Relationship Type="http://schemas.openxmlformats.org/officeDocument/2006/relationships/notesSlide" Target="/ppt/notesSlides/notesSlide14.xml" Id="Rdace15a909394d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550818c79452a" /><Relationship Type="http://schemas.openxmlformats.org/officeDocument/2006/relationships/notesSlide" Target="/ppt/notesSlides/notesSlide15.xml" Id="R75c38355c0234b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f5850e6254b0b" /><Relationship Type="http://schemas.openxmlformats.org/officeDocument/2006/relationships/notesSlide" Target="/ppt/notesSlides/notesSlide16.xml" Id="Rd23e0ba9c60642c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77e074b2e442e" /><Relationship Type="http://schemas.openxmlformats.org/officeDocument/2006/relationships/notesSlide" Target="/ppt/notesSlides/notesSlide17.xml" Id="R30a5ac38a4af496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b4aacf563492d" /><Relationship Type="http://schemas.openxmlformats.org/officeDocument/2006/relationships/image" Target="/ppt/media/image18.png" Id="Ref0d1d4df877453e" /><Relationship Type="http://schemas.openxmlformats.org/officeDocument/2006/relationships/image" Target="/ppt/media/image19.png" Id="Ra05239563b304cea" /><Relationship Type="http://schemas.openxmlformats.org/officeDocument/2006/relationships/notesSlide" Target="/ppt/notesSlides/notesSlide18.xml" Id="R3d436b7fce07493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c23033d604878" /><Relationship Type="http://schemas.openxmlformats.org/officeDocument/2006/relationships/notesSlide" Target="/ppt/notesSlides/notesSlide19.xml" Id="Ra7ba8cb5f1cb4cb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1cc3c251c46aa" /><Relationship Type="http://schemas.openxmlformats.org/officeDocument/2006/relationships/notesSlide" Target="/ppt/notesSlides/notesSlide20.xml" Id="R69dd4e768c3f4b4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754474b6d4b74" /><Relationship Type="http://schemas.openxmlformats.org/officeDocument/2006/relationships/notesSlide" Target="/ppt/notesSlides/notesSlide21.xml" Id="R3182d6a9c10c424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9276ea2f646cc" /><Relationship Type="http://schemas.openxmlformats.org/officeDocument/2006/relationships/notesSlide" Target="/ppt/notesSlides/notesSlide22.xml" Id="R501f4beef288449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8042a204041ec" /><Relationship Type="http://schemas.openxmlformats.org/officeDocument/2006/relationships/notesSlide" Target="/ppt/notesSlides/notesSlide23.xml" Id="R800a81502348487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fd83b54844fb6" /><Relationship Type="http://schemas.openxmlformats.org/officeDocument/2006/relationships/notesSlide" Target="/ppt/notesSlides/notesSlide24.xml" Id="R05c9fd6a4b004ab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f3390dcd84498" /><Relationship Type="http://schemas.openxmlformats.org/officeDocument/2006/relationships/notesSlide" Target="/ppt/notesSlides/notesSlide25.xml" Id="R8d2e892aae8c48e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465727c7e4064" /><Relationship Type="http://schemas.openxmlformats.org/officeDocument/2006/relationships/notesSlide" Target="/ppt/notesSlides/notesSlide26.xml" Id="R5dfbdc93866448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B628D-0C14-4A18-88E1-8ECF6663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F15DBC37-29C1-40CF-BC89-935697FE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基于扩散模型的&#10;指令驱动图像局部语义编辑系统">
            <a:extLst xmlns:a="http://schemas.openxmlformats.org/drawingml/2006/main">
              <a:ext uri="{FF2B5EF4-FFF2-40B4-BE49-F238E27FC236}">
                <a16:creationId xmlns:a16="http://schemas.microsoft.com/office/drawing/2014/main" id="{7E99480E-BD53-4533-97ED-F9BD3979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7981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基于扩散模型的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指令驱动图像局部语义编辑系统</a:t>
            </a:r>
          </a:p>
        </p:txBody>
      </p:sp>
      <p:sp>
        <p:nvSpPr>
          <p:cNvPr id="4" name="大学生创新训练项目  中期汇报准备稿">
            <a:extLst xmlns:a="http://schemas.openxmlformats.org/drawingml/2006/main">
              <a:ext uri="{FF2B5EF4-FFF2-40B4-BE49-F238E27FC236}">
                <a16:creationId xmlns:a16="http://schemas.microsoft.com/office/drawing/2014/main" id="{3F9817E7-F41E-424B-AE92-2759B334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790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rPr>
              <a:t>大学生创新训练项目  中期汇报准备稿</a:t>
            </a:r>
          </a:p>
        </p:txBody>
      </p:sp>
      <p:sp>
        <p:nvSpPr>
          <p:cNvPr id="5" name="研究重点  多目标一致性与非目标内容保护">
            <a:extLst xmlns:a="http://schemas.openxmlformats.org/drawingml/2006/main">
              <a:ext uri="{FF2B5EF4-FFF2-40B4-BE49-F238E27FC236}">
                <a16:creationId xmlns:a16="http://schemas.microsoft.com/office/drawing/2014/main" id="{63FA17EA-E6D7-4938-8A4D-A0B17AEC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rPr>
              <a:t>研究重点  多目标一致性与非目标内容保护</a:t>
            </a:r>
          </a:p>
        </p:txBody>
      </p:sp>
      <p:sp>
        <p:nvSpPr>
          <p:cNvPr id="6" name="项目组  成员A  成员B  成员C  成员D  成员E">
            <a:extLst xmlns:a="http://schemas.openxmlformats.org/drawingml/2006/main">
              <a:ext uri="{FF2B5EF4-FFF2-40B4-BE49-F238E27FC236}">
                <a16:creationId xmlns:a16="http://schemas.microsoft.com/office/drawing/2014/main" id="{C2FA8776-302A-4CF9-A9AA-0EEA438A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0025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rPr>
              <a:t>项目组  成员A  成员B  成员C  成员D  成员E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rPr>
              <a:t>研究进展截至 2026 年 10 月 19 日</a:t>
            </a:r>
          </a:p>
        </p:txBody>
      </p:sp>
    </p:spTree>
    <p:extLst>
      <p:ext uri="{BB962C8B-B14F-4D97-AF65-F5344CB8AC3E}">
        <p14:creationId xmlns:p14="http://schemas.microsoft.com/office/powerpoint/2010/main" val="441740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研究问题  局部指令可能引起无关内容变化">
            <a:extLst xmlns:a="http://schemas.openxmlformats.org/drawingml/2006/main">
              <a:ext uri="{FF2B5EF4-FFF2-40B4-BE49-F238E27FC236}">
                <a16:creationId xmlns:a16="http://schemas.microsoft.com/office/drawing/2014/main" id="{9AE179E9-9641-487C-B902-6980683B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研究问题  局部指令可能引起无关内容变化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DB4DD14A-C81A-4D18-9128-6ED888BE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99BF8-F81E-4D41-A326-5B8C62CEEC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2df07d4ec44e1"/>
          <a:stretch xmlns:a="http://schemas.openxmlformats.org/drawingml/2006/main"/>
        </p:blipFill>
        <p:spPr>
          <a:xfrm xmlns:a="http://schemas.openxmlformats.org/drawingml/2006/main">
            <a:off x="503238" y="1266825"/>
            <a:ext cx="3860800" cy="25336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84826-5FF0-4A15-B4AF-D366B8D924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296787f7841f7"/>
          <a:stretch xmlns:a="http://schemas.openxmlformats.org/drawingml/2006/main"/>
        </p:blipFill>
        <p:spPr>
          <a:xfrm xmlns:a="http://schemas.openxmlformats.org/drawingml/2006/main">
            <a:off x="4779963" y="1266825"/>
            <a:ext cx="3860800" cy="2533650"/>
          </a:xfrm>
          <a:prstGeom xmlns:a="http://schemas.openxmlformats.org/drawingml/2006/main" prst="rect">
            <a:avLst/>
          </a:prstGeom>
        </p:spPr>
      </p:pic>
      <p:sp>
        <p:nvSpPr>
          <p:cNvPr id="5" name="原图">
            <a:extLst xmlns:a="http://schemas.openxmlformats.org/drawingml/2006/main">
              <a:ext uri="{FF2B5EF4-FFF2-40B4-BE49-F238E27FC236}">
                <a16:creationId xmlns:a16="http://schemas.microsoft.com/office/drawing/2014/main" id="{32CA49AD-7AC9-4F48-A48A-479B1CBD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3952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原图</a:t>
            </a:r>
          </a:p>
        </p:txBody>
      </p:sp>
      <p:sp>
        <p:nvSpPr>
          <p:cNvPr id="6" name="原稿基线案例  外套与雪地都发生变化">
            <a:extLst xmlns:a="http://schemas.openxmlformats.org/drawingml/2006/main">
              <a:ext uri="{FF2B5EF4-FFF2-40B4-BE49-F238E27FC236}">
                <a16:creationId xmlns:a16="http://schemas.microsoft.com/office/drawing/2014/main" id="{620C6479-E836-48E5-ADA2-F715ACCF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905250"/>
            <a:ext cx="3952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rPr>
              <a:t>原稿基线案例  外套与雪地都发生变化</a:t>
            </a:r>
          </a:p>
        </p:txBody>
      </p:sp>
      <p:sp>
        <p:nvSpPr>
          <p:cNvPr id="7" name="研究目标：目标区域按指令修改，非目标内容尽量保持。图示仅">
            <a:extLst xmlns:a="http://schemas.openxmlformats.org/drawingml/2006/main">
              <a:ext uri="{FF2B5EF4-FFF2-40B4-BE49-F238E27FC236}">
                <a16:creationId xmlns:a16="http://schemas.microsoft.com/office/drawing/2014/main" id="{7543F978-D730-40C6-898A-B8D26BAB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研究目标：目标区域按指令修改，非目标内容尽量保持。图示仅说明该案例，不能代表基线在所有图片上的表现。</a:t>
            </a:r>
          </a:p>
        </p:txBody>
      </p:sp>
    </p:spTree>
    <p:extLst>
      <p:ext uri="{BB962C8B-B14F-4D97-AF65-F5344CB8AC3E}">
        <p14:creationId xmlns:p14="http://schemas.microsoft.com/office/powerpoint/2010/main" val="7508213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研究范围与评价目标">
            <a:extLst xmlns:a="http://schemas.openxmlformats.org/drawingml/2006/main">
              <a:ext uri="{FF2B5EF4-FFF2-40B4-BE49-F238E27FC236}">
                <a16:creationId xmlns:a16="http://schemas.microsoft.com/office/drawing/2014/main" id="{A499BD13-3073-4A7C-A168-76C7525D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研究范围与评价目标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9DE24E06-7404-421F-A778-34CBAA16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3F39A-D2C3-4DCC-847F-83AC9CBD738E}"/>
              </a:ext>
            </a:extLst>
          </p:cNvPr>
          <p:cNvGraphicFramePr/>
          <p:nvPr/>
        </p:nvGraphicFramePr>
        <p:xfrm>
          <a:off xmlns:a="http://schemas.openxmlformats.org/drawingml/2006/main" x="457200" y="1247775"/>
          <a:ext xmlns:a="http://schemas.openxmlformats.org/drawingml/2006/main" cx="8229600" cy="2352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714625"/>
                <a:gridCol w="4562475"/>
              </a:tblGrid>
              <a:tr h="588169">
                <a:tc>
                  <a:txBody>
                    <a:bodyPr lIns="95250" tIns="76200" rIns="85725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用户例子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主要检查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</a:tr>
              <a:tr h="588169"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改色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把外套换成蓝色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新颜色是否出现，纹理是否保留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8169"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去掉停车标志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目标是否完整移除，背景是否自然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588169"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替换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把猫换成老虎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新类别、实例数量和形态是否合理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当前边界">
            <a:extLst xmlns:a="http://schemas.openxmlformats.org/drawingml/2006/main">
              <a:ext uri="{FF2B5EF4-FFF2-40B4-BE49-F238E27FC236}">
                <a16:creationId xmlns:a16="http://schemas.microsoft.com/office/drawing/2014/main" id="{6A3170E6-789F-4E2B-B804-5011D6DC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5" name="支持明确的改色、删除和替换。方位或序号选择需人工选区。&#10;">
            <a:extLst xmlns:a="http://schemas.openxmlformats.org/drawingml/2006/main">
              <a:ext uri="{FF2B5EF4-FFF2-40B4-BE49-F238E27FC236}">
                <a16:creationId xmlns:a16="http://schemas.microsoft.com/office/drawing/2014/main" id="{32803860-8956-4F0A-8083-3120567B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822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支持明确的改色、删除和替换。方位或序号选择需人工选区。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复杂关系、多轮编辑和任意新增对象尚未完成系统验证。</a:t>
            </a:r>
          </a:p>
        </p:txBody>
      </p:sp>
    </p:spTree>
    <p:extLst>
      <p:ext uri="{BB962C8B-B14F-4D97-AF65-F5344CB8AC3E}">
        <p14:creationId xmlns:p14="http://schemas.microsoft.com/office/powerpoint/2010/main" val="1416840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研究路径与阶段改进">
            <a:extLst xmlns:a="http://schemas.openxmlformats.org/drawingml/2006/main">
              <a:ext uri="{FF2B5EF4-FFF2-40B4-BE49-F238E27FC236}">
                <a16:creationId xmlns:a16="http://schemas.microsoft.com/office/drawing/2014/main" id="{F96B7637-77ED-4EBA-A258-CC8B5B99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研究路径与阶段改进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97A2694A-6BED-4940-8B54-20C980ED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B19D1-2C89-4569-9F2D-4FE844E9EE8A}"/>
              </a:ext>
            </a:extLst>
          </p:cNvPr>
          <p:cNvGraphicFramePr/>
          <p:nvPr/>
        </p:nvGraphicFramePr>
        <p:xfrm>
          <a:off xmlns:a="http://schemas.openxmlformats.org/drawingml/2006/main" x="457200" y="1190625"/>
          <a:ext xmlns:a="http://schemas.openxmlformats.org/drawingml/2006/main" cx="82296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66825"/>
                <a:gridCol w="3114675"/>
                <a:gridCol w="3848100"/>
              </a:tblGrid>
              <a:tr h="641985"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发现的问题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采取的处理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</a:tr>
              <a:tr h="641985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原始原型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背景漂移，选区粗糙，多目标漏换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保留解析、选区、编辑和融合主线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1985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选区与改色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定位与纹理保持需要单独诊断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DINO + SAM，Lab 改色，内容保护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641985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逐例自测改进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目标消失，删除后重新生成物体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局部逐实例替换，检查重试，LaMa 删除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1985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正式验证准备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开发样例不能证明泛化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冻结版本，独立评价 120 张预留测试图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4" name="研究重点是编辑流程、约束和评价设计。本项目没有训练新的基">
            <a:extLst xmlns:a="http://schemas.openxmlformats.org/drawingml/2006/main">
              <a:ext uri="{FF2B5EF4-FFF2-40B4-BE49-F238E27FC236}">
                <a16:creationId xmlns:a16="http://schemas.microsoft.com/office/drawing/2014/main" id="{84D9CA30-B640-43BC-A26F-F0D01547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研究重点是编辑流程、约束和评价设计。本项目没有训练新的基础模型。</a:t>
            </a:r>
          </a:p>
        </p:txBody>
      </p:sp>
    </p:spTree>
    <p:extLst>
      <p:ext uri="{BB962C8B-B14F-4D97-AF65-F5344CB8AC3E}">
        <p14:creationId xmlns:p14="http://schemas.microsoft.com/office/powerpoint/2010/main" val="4010911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系统结构与数据流">
            <a:extLst xmlns:a="http://schemas.openxmlformats.org/drawingml/2006/main">
              <a:ext uri="{FF2B5EF4-FFF2-40B4-BE49-F238E27FC236}">
                <a16:creationId xmlns:a16="http://schemas.microsoft.com/office/drawing/2014/main" id="{54F387EB-1BCC-4601-87A3-10A55EAF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系统结构与数据流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874590D5-306A-4E4C-9C77-DEFF49DA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01  指令解析">
            <a:extLst xmlns:a="http://schemas.openxmlformats.org/drawingml/2006/main">
              <a:ext uri="{FF2B5EF4-FFF2-40B4-BE49-F238E27FC236}">
                <a16:creationId xmlns:a16="http://schemas.microsoft.com/office/drawing/2014/main" id="{3674A675-C31A-4638-97E1-E6C43979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6325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01  指令解析</a:t>
            </a:r>
          </a:p>
        </p:txBody>
      </p:sp>
      <p:sp>
        <p:nvSpPr>
          <p:cNvPr id="4" name="把指令整理成动作、目标对象和新内容">
            <a:extLst xmlns:a="http://schemas.openxmlformats.org/drawingml/2006/main">
              <a:ext uri="{FF2B5EF4-FFF2-40B4-BE49-F238E27FC236}">
                <a16:creationId xmlns:a16="http://schemas.microsoft.com/office/drawing/2014/main" id="{D3A17048-8458-4E51-A3DB-7AFFE424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9225"/>
            <a:ext cx="822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把指令整理成动作、目标对象和新内容</a:t>
            </a:r>
          </a:p>
        </p:txBody>
      </p:sp>
      <p:sp>
        <p:nvSpPr>
          <p:cNvPr id="5" name="02  目标定位">
            <a:extLst xmlns:a="http://schemas.openxmlformats.org/drawingml/2006/main">
              <a:ext uri="{FF2B5EF4-FFF2-40B4-BE49-F238E27FC236}">
                <a16:creationId xmlns:a16="http://schemas.microsoft.com/office/drawing/2014/main" id="{85E8E928-347E-4200-B104-A13D9602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95475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02  目标定位</a:t>
            </a:r>
          </a:p>
        </p:txBody>
      </p:sp>
      <p:sp>
        <p:nvSpPr>
          <p:cNvPr id="6" name="文本检测得到对象框，SAM 输出实例选区">
            <a:extLst xmlns:a="http://schemas.openxmlformats.org/drawingml/2006/main">
              <a:ext uri="{FF2B5EF4-FFF2-40B4-BE49-F238E27FC236}">
                <a16:creationId xmlns:a16="http://schemas.microsoft.com/office/drawing/2014/main" id="{67DD55D2-E121-47D5-9F3E-426A2C65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文本检测得到对象框，SAM 输出实例选区</a:t>
            </a:r>
          </a:p>
        </p:txBody>
      </p:sp>
      <p:sp>
        <p:nvSpPr>
          <p:cNvPr id="7" name="03  任务分流">
            <a:extLst xmlns:a="http://schemas.openxmlformats.org/drawingml/2006/main">
              <a:ext uri="{FF2B5EF4-FFF2-40B4-BE49-F238E27FC236}">
                <a16:creationId xmlns:a16="http://schemas.microsoft.com/office/drawing/2014/main" id="{DBDDB210-3BE9-429C-8905-9EAAC027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03  任务分流</a:t>
            </a:r>
          </a:p>
        </p:txBody>
      </p:sp>
      <p:sp>
        <p:nvSpPr>
          <p:cNvPr id="8" name="改色采用颜色变换，删除修补背景，替换逐实例重绘">
            <a:extLst xmlns:a="http://schemas.openxmlformats.org/drawingml/2006/main">
              <a:ext uri="{FF2B5EF4-FFF2-40B4-BE49-F238E27FC236}">
                <a16:creationId xmlns:a16="http://schemas.microsoft.com/office/drawing/2014/main" id="{3D51EB69-244D-4A32-BFD0-F7246323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57525"/>
            <a:ext cx="822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改色采用颜色变换，删除修补背景，替换逐实例重绘</a:t>
            </a:r>
          </a:p>
        </p:txBody>
      </p:sp>
      <p:sp>
        <p:nvSpPr>
          <p:cNvPr id="9" name="04  结果约束与记录">
            <a:extLst xmlns:a="http://schemas.openxmlformats.org/drawingml/2006/main">
              <a:ext uri="{FF2B5EF4-FFF2-40B4-BE49-F238E27FC236}">
                <a16:creationId xmlns:a16="http://schemas.microsoft.com/office/drawing/2014/main" id="{B322F24D-C354-42A5-A512-2F9614F3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04  结果约束与记录</a:t>
            </a:r>
          </a:p>
        </p:txBody>
      </p:sp>
      <p:sp>
        <p:nvSpPr>
          <p:cNvPr id="10" name="局部融合，替换结果检查，保存参数和候选">
            <a:extLst xmlns:a="http://schemas.openxmlformats.org/drawingml/2006/main">
              <a:ext uri="{FF2B5EF4-FFF2-40B4-BE49-F238E27FC236}">
                <a16:creationId xmlns:a16="http://schemas.microsoft.com/office/drawing/2014/main" id="{4F34D445-F2D6-4F40-BBDA-3618B1D7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6675"/>
            <a:ext cx="822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局部融合，替换结果检查，保存参数和候选</a:t>
            </a:r>
          </a:p>
        </p:txBody>
      </p:sp>
    </p:spTree>
    <p:extLst>
      <p:ext uri="{BB962C8B-B14F-4D97-AF65-F5344CB8AC3E}">
        <p14:creationId xmlns:p14="http://schemas.microsoft.com/office/powerpoint/2010/main" val="15401166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指令解析  动作与目标分别传给后续模块">
            <a:extLst xmlns:a="http://schemas.openxmlformats.org/drawingml/2006/main">
              <a:ext uri="{FF2B5EF4-FFF2-40B4-BE49-F238E27FC236}">
                <a16:creationId xmlns:a16="http://schemas.microsoft.com/office/drawing/2014/main" id="{D83860B8-45E0-4C3A-B192-1726E461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指令解析  动作与目标分别传给后续模块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330A4FA8-B2BE-46D8-BE12-A6CAB814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D977B-D7BF-40E4-AE30-96DA5B55D576}"/>
              </a:ext>
            </a:extLst>
          </p:cNvPr>
          <p:cNvGraphicFramePr/>
          <p:nvPr/>
        </p:nvGraphicFramePr>
        <p:xfrm>
          <a:off xmlns:a="http://schemas.openxmlformats.org/drawingml/2006/main" x="457200" y="1200150"/>
          <a:ext xmlns:a="http://schemas.openxmlformats.org/drawingml/2006/main" cx="8229600" cy="2295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276350"/>
                <a:gridCol w="1762125"/>
                <a:gridCol w="2333625"/>
              </a:tblGrid>
              <a:tr h="573881">
                <a:tc>
                  <a:txBody>
                    <a:bodyPr lIns="95250" tIns="76200" rIns="85725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指令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原目标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新内容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</a:tr>
              <a:tr h="573881"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把外套换成蓝色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color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jacket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blue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3881"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去掉停车标志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remove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stop sign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empty background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573881"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把猫换成老虎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replace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cat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tiger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默认使用规则模板与中英词表">
            <a:extLst xmlns:a="http://schemas.openxmlformats.org/drawingml/2006/main">
              <a:ext uri="{FF2B5EF4-FFF2-40B4-BE49-F238E27FC236}">
                <a16:creationId xmlns:a16="http://schemas.microsoft.com/office/drawing/2014/main" id="{28B60E4C-0C7D-4701-B8CF-538D9058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8229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默认使用规则模板与中英词表</a:t>
            </a:r>
          </a:p>
        </p:txBody>
      </p:sp>
      <p:sp>
        <p:nvSpPr>
          <p:cNvPr id="5" name="可选 LLM 接口用于解析扩展，尚无完整准确率对照。&#10;无">
            <a:extLst xmlns:a="http://schemas.openxmlformats.org/drawingml/2006/main">
              <a:ext uri="{FF2B5EF4-FFF2-40B4-BE49-F238E27FC236}">
                <a16:creationId xmlns:a16="http://schemas.microsoft.com/office/drawing/2014/main" id="{31A2F9BE-900E-4D6A-9591-EBA5C87D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822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可选 LLM 接口用于解析扩展，尚无完整准确率对照。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无法明确识别的指令应提示修正，避免盲目执行。</a:t>
            </a:r>
          </a:p>
        </p:txBody>
      </p:sp>
    </p:spTree>
    <p:extLst>
      <p:ext uri="{BB962C8B-B14F-4D97-AF65-F5344CB8AC3E}">
        <p14:creationId xmlns:p14="http://schemas.microsoft.com/office/powerpoint/2010/main" val="9557685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自动选区  保留每个对象的独立实例">
            <a:extLst xmlns:a="http://schemas.openxmlformats.org/drawingml/2006/main">
              <a:ext uri="{FF2B5EF4-FFF2-40B4-BE49-F238E27FC236}">
                <a16:creationId xmlns:a16="http://schemas.microsoft.com/office/drawing/2014/main" id="{692CEE81-8ADB-49C0-A5F6-637D3B4C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自动选区  保留每个对象的独立实例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8043B1BE-EA98-479F-B780-39808316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5D094-4F3F-4697-9090-A1576556B2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ebf2013b44b8d"/>
          <a:stretch xmlns:a="http://schemas.openxmlformats.org/drawingml/2006/main"/>
        </p:blipFill>
        <p:spPr>
          <a:xfrm xmlns:a="http://schemas.openxmlformats.org/drawingml/2006/main">
            <a:off x="708025" y="1343025"/>
            <a:ext cx="3403600" cy="25527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008D8-F6AC-437C-8D3C-BF07AE2678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06f2af5f5483d"/>
          <a:stretch xmlns:a="http://schemas.openxmlformats.org/drawingml/2006/main"/>
        </p:blipFill>
        <p:spPr>
          <a:xfrm xmlns:a="http://schemas.openxmlformats.org/drawingml/2006/main">
            <a:off x="5032375" y="1343025"/>
            <a:ext cx="3403600" cy="2552700"/>
          </a:xfrm>
          <a:prstGeom xmlns:a="http://schemas.openxmlformats.org/drawingml/2006/main" prst="rect">
            <a:avLst/>
          </a:prstGeom>
        </p:spPr>
      </p:pic>
      <p:sp>
        <p:nvSpPr>
          <p:cNvPr id="5" name="原稿  CLIPSeg 目标选区">
            <a:extLst xmlns:a="http://schemas.openxmlformats.org/drawingml/2006/main">
              <a:ext uri="{FF2B5EF4-FFF2-40B4-BE49-F238E27FC236}">
                <a16:creationId xmlns:a16="http://schemas.microsoft.com/office/drawing/2014/main" id="{8347B4D4-CEC2-47B7-9C04-4279227D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909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原稿  CLIPSeg 目标选区</a:t>
            </a:r>
          </a:p>
        </p:txBody>
      </p:sp>
      <p:sp>
        <p:nvSpPr>
          <p:cNvPr id="6" name="当前  文本检测与实例分割">
            <a:extLst xmlns:a="http://schemas.openxmlformats.org/drawingml/2006/main">
              <a:ext uri="{FF2B5EF4-FFF2-40B4-BE49-F238E27FC236}">
                <a16:creationId xmlns:a16="http://schemas.microsoft.com/office/drawing/2014/main" id="{158812FD-B5FD-4B0E-98C5-6190A5C6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909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rPr>
              <a:t>当前  文本检测与实例分割</a:t>
            </a:r>
          </a:p>
        </p:txBody>
      </p:sp>
      <p:sp>
        <p:nvSpPr>
          <p:cNvPr id="7" name="检测框负责“在哪里”，SAM 负责“哪些像素”。仍可能漏">
            <a:extLst xmlns:a="http://schemas.openxmlformats.org/drawingml/2006/main">
              <a:ext uri="{FF2B5EF4-FFF2-40B4-BE49-F238E27FC236}">
                <a16:creationId xmlns:a16="http://schemas.microsoft.com/office/drawing/2014/main" id="{CEA04BB0-4DE6-4178-8CA6-0B5D821E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检测框负责“在哪里”，SAM 负责“哪些像素”。仍可能漏检、误检，实例数量也需要复核。</a:t>
            </a:r>
          </a:p>
        </p:txBody>
      </p:sp>
    </p:spTree>
    <p:extLst>
      <p:ext uri="{BB962C8B-B14F-4D97-AF65-F5344CB8AC3E}">
        <p14:creationId xmlns:p14="http://schemas.microsoft.com/office/powerpoint/2010/main" val="4897430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任务分流  三类编辑使用不同处理方法">
            <a:extLst xmlns:a="http://schemas.openxmlformats.org/drawingml/2006/main">
              <a:ext uri="{FF2B5EF4-FFF2-40B4-BE49-F238E27FC236}">
                <a16:creationId xmlns:a16="http://schemas.microsoft.com/office/drawing/2014/main" id="{0A9D2AFA-8CCB-4F91-89AD-6F9EAB00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任务分流  三类编辑使用不同处理方法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951843F6-A32D-42F1-BB83-504EF071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7F456-0B47-4DC9-95C1-8CB1F7B91B50}"/>
              </a:ext>
            </a:extLst>
          </p:cNvPr>
          <p:cNvGraphicFramePr/>
          <p:nvPr/>
        </p:nvGraphicFramePr>
        <p:xfrm>
          <a:off xmlns:a="http://schemas.openxmlformats.org/drawingml/2006/main" x="457200" y="1304925"/>
          <a:ext xmlns:a="http://schemas.openxmlformats.org/drawingml/2006/main" cx="8229600" cy="2466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2025"/>
                <a:gridCol w="2667000"/>
                <a:gridCol w="4600575"/>
              </a:tblGrid>
              <a:tr h="616744">
                <a:tc>
                  <a:txBody>
                    <a:bodyPr lIns="95250" tIns="76200" rIns="85725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当前方法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设计理由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</a:tr>
              <a:tr h="616744">
                <a:tc>
                  <a:txBody>
                    <a:bodyPr lIns="95250" tIns="76200" rIns="85725" bIns="66675"/>
                    <a:lstStyle/>
                    <a:p>
                      <a:r>
                        <a:rPr sz="157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改色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7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Lab 颜色变换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7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尽量保留原图形状、明暗和细节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6744">
                <a:tc>
                  <a:txBody>
                    <a:bodyPr lIns="95250" tIns="76200" rIns="85725" bIns="66675"/>
                    <a:lstStyle/>
                    <a:p>
                      <a:r>
                        <a:rPr sz="157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7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LaMa 背景修补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7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根据周围内容补全，不要求生成新类别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616744">
                <a:tc>
                  <a:txBody>
                    <a:bodyPr lIns="95250" tIns="76200" rIns="85725" bIns="66675"/>
                    <a:lstStyle/>
                    <a:p>
                      <a:r>
                        <a:rPr sz="157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替换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7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 Inpainting 局部重绘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7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需要生成新对象的外观与结构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共同约束  先确认目标区域，再限制修改范围">
            <a:extLst xmlns:a="http://schemas.openxmlformats.org/drawingml/2006/main">
              <a:ext uri="{FF2B5EF4-FFF2-40B4-BE49-F238E27FC236}">
                <a16:creationId xmlns:a16="http://schemas.microsoft.com/office/drawing/2014/main" id="{2AA036A4-CD5E-4233-B1E7-D8262A56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rPr>
              <a:t>共同约束  先确认目标区域，再限制修改范围</a:t>
            </a:r>
          </a:p>
        </p:txBody>
      </p:sp>
      <p:sp>
        <p:nvSpPr>
          <p:cNvPr id="5" name="任务分流是规则驱动的系统设计。改色与 LaMa 删除均不">
            <a:extLst xmlns:a="http://schemas.openxmlformats.org/drawingml/2006/main">
              <a:ext uri="{FF2B5EF4-FFF2-40B4-BE49-F238E27FC236}">
                <a16:creationId xmlns:a16="http://schemas.microsoft.com/office/drawing/2014/main" id="{CE9AFC8D-2CBE-42D7-8278-0AB22BFE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任务分流是规则驱动的系统设计。改色与 LaMa 删除均不属于扩散生成。</a:t>
            </a:r>
          </a:p>
        </p:txBody>
      </p:sp>
    </p:spTree>
    <p:extLst>
      <p:ext uri="{BB962C8B-B14F-4D97-AF65-F5344CB8AC3E}">
        <p14:creationId xmlns:p14="http://schemas.microsoft.com/office/powerpoint/2010/main" val="14953558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改色案例  保留纹理并保护内容物">
            <a:extLst xmlns:a="http://schemas.openxmlformats.org/drawingml/2006/main">
              <a:ext uri="{FF2B5EF4-FFF2-40B4-BE49-F238E27FC236}">
                <a16:creationId xmlns:a16="http://schemas.microsoft.com/office/drawing/2014/main" id="{2D983CC9-9CE2-4C51-9079-EEB4B31F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改色案例  保留纹理并保护内容物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D02B6AFF-523E-446B-A738-664E3E89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F69F5-EEA3-47AC-8C77-09F608E66F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4d355dd594cc1"/>
          <a:stretch xmlns:a="http://schemas.openxmlformats.org/drawingml/2006/main"/>
        </p:blipFill>
        <p:spPr>
          <a:xfrm xmlns:a="http://schemas.openxmlformats.org/drawingml/2006/main">
            <a:off x="609712" y="1266825"/>
            <a:ext cx="3600226" cy="23907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EB68F-1EAD-40D2-8CCD-377BD3B470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6b10bbc1b43e9"/>
          <a:stretch xmlns:a="http://schemas.openxmlformats.org/drawingml/2006/main"/>
        </p:blipFill>
        <p:spPr>
          <a:xfrm xmlns:a="http://schemas.openxmlformats.org/drawingml/2006/main">
            <a:off x="4934062" y="1266825"/>
            <a:ext cx="3600226" cy="2390775"/>
          </a:xfrm>
          <a:prstGeom xmlns:a="http://schemas.openxmlformats.org/drawingml/2006/main" prst="rect">
            <a:avLst/>
          </a:prstGeom>
        </p:spPr>
      </p:pic>
      <p:sp>
        <p:nvSpPr>
          <p:cNvPr id="5" name="原图  红色外套">
            <a:extLst xmlns:a="http://schemas.openxmlformats.org/drawingml/2006/main">
              <a:ext uri="{FF2B5EF4-FFF2-40B4-BE49-F238E27FC236}">
                <a16:creationId xmlns:a16="http://schemas.microsoft.com/office/drawing/2014/main" id="{7D35B25C-F65C-47FA-9C1C-661633F8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3905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原图  红色外套</a:t>
            </a:r>
          </a:p>
        </p:txBody>
      </p:sp>
      <p:sp>
        <p:nvSpPr>
          <p:cNvPr id="6" name="Lab 改色  蓝色外套与原有条纹">
            <a:extLst xmlns:a="http://schemas.openxmlformats.org/drawingml/2006/main">
              <a:ext uri="{FF2B5EF4-FFF2-40B4-BE49-F238E27FC236}">
                <a16:creationId xmlns:a16="http://schemas.microsoft.com/office/drawing/2014/main" id="{D4AD81B2-C889-4C6C-87B1-F08F7FAD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43325"/>
            <a:ext cx="3905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rPr>
              <a:t>Lab 改色  蓝色外套与原有条纹</a:t>
            </a:r>
          </a:p>
        </p:txBody>
      </p:sp>
      <p:sp>
        <p:nvSpPr>
          <p:cNvPr id="7" name="颜色变换保留中间明度层次，极亮与极暗区域会适当调整。&#10;白">
            <a:extLst xmlns:a="http://schemas.openxmlformats.org/drawingml/2006/main">
              <a:ext uri="{FF2B5EF4-FFF2-40B4-BE49-F238E27FC236}">
                <a16:creationId xmlns:a16="http://schemas.microsoft.com/office/drawing/2014/main" id="{C670B336-9839-455F-A4C9-29FB2CA2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8229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颜色变换保留中间明度层次，极亮与极暗区域会适当调整。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白色条纹和深色饰边的保护依赖可靠主色，不能保证所有材质均自然。</a:t>
            </a:r>
          </a:p>
        </p:txBody>
      </p:sp>
    </p:spTree>
    <p:extLst>
      <p:ext uri="{BB962C8B-B14F-4D97-AF65-F5344CB8AC3E}">
        <p14:creationId xmlns:p14="http://schemas.microsoft.com/office/powerpoint/2010/main" val="10462822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删除案例  从目标生成转为背景修补">
            <a:extLst xmlns:a="http://schemas.openxmlformats.org/drawingml/2006/main">
              <a:ext uri="{FF2B5EF4-FFF2-40B4-BE49-F238E27FC236}">
                <a16:creationId xmlns:a16="http://schemas.microsoft.com/office/drawing/2014/main" id="{DB13CA63-2A63-4300-A8ED-4E8EFD58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删除案例  从目标生成转为背景修补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DDEBEB02-F205-4039-820A-9747C465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B1D71-BC72-4204-827D-A307208756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db5ffb2b64d38"/>
          <a:stretch xmlns:a="http://schemas.openxmlformats.org/drawingml/2006/main"/>
        </p:blipFill>
        <p:spPr>
          <a:xfrm xmlns:a="http://schemas.openxmlformats.org/drawingml/2006/main">
            <a:off x="563166" y="1190625"/>
            <a:ext cx="2264569" cy="301942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92D0E-54E5-4781-B532-76BC5175E8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8a6eca690c48ff"/>
          <a:stretch xmlns:a="http://schemas.openxmlformats.org/drawingml/2006/main"/>
        </p:blipFill>
        <p:spPr>
          <a:xfrm xmlns:a="http://schemas.openxmlformats.org/drawingml/2006/main">
            <a:off x="3439716" y="1190625"/>
            <a:ext cx="2264569" cy="30194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D7032-4484-4592-9FC8-689815A99D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03fc2b9b7489c"/>
          <a:stretch xmlns:a="http://schemas.openxmlformats.org/drawingml/2006/main"/>
        </p:blipFill>
        <p:spPr>
          <a:xfrm xmlns:a="http://schemas.openxmlformats.org/drawingml/2006/main">
            <a:off x="6316266" y="1190625"/>
            <a:ext cx="2264569" cy="3019425"/>
          </a:xfrm>
          <a:prstGeom xmlns:a="http://schemas.openxmlformats.org/drawingml/2006/main" prst="rect">
            <a:avLst/>
          </a:prstGeom>
        </p:spPr>
      </p:pic>
      <p:sp>
        <p:nvSpPr>
          <p:cNvPr id="6" name="原图">
            <a:extLst xmlns:a="http://schemas.openxmlformats.org/drawingml/2006/main">
              <a:ext uri="{FF2B5EF4-FFF2-40B4-BE49-F238E27FC236}">
                <a16:creationId xmlns:a16="http://schemas.microsoft.com/office/drawing/2014/main" id="{832C44C7-A5DF-4611-B415-B9AEBB53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原图</a:t>
            </a:r>
          </a:p>
        </p:txBody>
      </p:sp>
      <p:sp>
        <p:nvSpPr>
          <p:cNvPr id="7" name="上一阶段  SD 删除">
            <a:extLst xmlns:a="http://schemas.openxmlformats.org/drawingml/2006/main">
              <a:ext uri="{FF2B5EF4-FFF2-40B4-BE49-F238E27FC236}">
                <a16:creationId xmlns:a16="http://schemas.microsoft.com/office/drawing/2014/main" id="{871DB2BA-F650-4D60-A4A5-BE3FA5EF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86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上一阶段  SD 删除</a:t>
            </a:r>
          </a:p>
        </p:txBody>
      </p:sp>
      <p:sp>
        <p:nvSpPr>
          <p:cNvPr id="8" name="当前  LaMa 修补">
            <a:extLst xmlns:a="http://schemas.openxmlformats.org/drawingml/2006/main">
              <a:ext uri="{FF2B5EF4-FFF2-40B4-BE49-F238E27FC236}">
                <a16:creationId xmlns:a16="http://schemas.microsoft.com/office/drawing/2014/main" id="{B0BDCAAA-5D83-4316-9314-736B2A39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rPr>
              <a:t>当前  LaMa 修补</a:t>
            </a:r>
          </a:p>
        </p:txBody>
      </p:sp>
      <p:sp>
        <p:nvSpPr>
          <p:cNvPr id="9" name="此例只删除牌面，支撑杆仍在。若任务要求删除整套标志，必须">
            <a:extLst xmlns:a="http://schemas.openxmlformats.org/drawingml/2006/main">
              <a:ext uri="{FF2B5EF4-FFF2-40B4-BE49-F238E27FC236}">
                <a16:creationId xmlns:a16="http://schemas.microsoft.com/office/drawing/2014/main" id="{AB60B9BE-C669-4983-9753-4069173F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此例只删除牌面，支撑杆仍在。若任务要求删除整套标志，必须重新定义并确认选区。</a:t>
            </a:r>
          </a:p>
        </p:txBody>
      </p:sp>
    </p:spTree>
    <p:extLst>
      <p:ext uri="{BB962C8B-B14F-4D97-AF65-F5344CB8AC3E}">
        <p14:creationId xmlns:p14="http://schemas.microsoft.com/office/powerpoint/2010/main" val="8803278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多目标替换  每个实例分别重绘">
            <a:extLst xmlns:a="http://schemas.openxmlformats.org/drawingml/2006/main">
              <a:ext uri="{FF2B5EF4-FFF2-40B4-BE49-F238E27FC236}">
                <a16:creationId xmlns:a16="http://schemas.microsoft.com/office/drawing/2014/main" id="{95495919-DA4A-4577-9BFC-E9D4F1E5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多目标替换  每个实例分别重绘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A8D7110D-9245-44F5-B705-B6615CA9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CB023-C895-4E21-9C6B-CAE086A52F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4897a72934579"/>
          <a:stretch xmlns:a="http://schemas.openxmlformats.org/drawingml/2006/main"/>
        </p:blipFill>
        <p:spPr>
          <a:xfrm xmlns:a="http://schemas.openxmlformats.org/drawingml/2006/main">
            <a:off x="457200" y="1412081"/>
            <a:ext cx="2571750" cy="1928813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89FC6-C65F-4FA8-807B-73F40772B3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b124dd51c449d"/>
          <a:stretch xmlns:a="http://schemas.openxmlformats.org/drawingml/2006/main"/>
        </p:blipFill>
        <p:spPr>
          <a:xfrm xmlns:a="http://schemas.openxmlformats.org/drawingml/2006/main">
            <a:off x="3286125" y="1412081"/>
            <a:ext cx="2571750" cy="1928813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E4B23-9346-4E2E-A1B9-2261F523B7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e2e427e2d49eb"/>
          <a:stretch xmlns:a="http://schemas.openxmlformats.org/drawingml/2006/main"/>
        </p:blipFill>
        <p:spPr>
          <a:xfrm xmlns:a="http://schemas.openxmlformats.org/drawingml/2006/main">
            <a:off x="6115050" y="1412081"/>
            <a:ext cx="2571750" cy="1928813"/>
          </a:xfrm>
          <a:prstGeom xmlns:a="http://schemas.openxmlformats.org/drawingml/2006/main" prst="rect">
            <a:avLst/>
          </a:prstGeom>
        </p:spPr>
      </p:pic>
      <p:sp>
        <p:nvSpPr>
          <p:cNvPr id="6" name="原图  两只猫">
            <a:extLst xmlns:a="http://schemas.openxmlformats.org/drawingml/2006/main">
              <a:ext uri="{FF2B5EF4-FFF2-40B4-BE49-F238E27FC236}">
                <a16:creationId xmlns:a16="http://schemas.microsoft.com/office/drawing/2014/main" id="{2F4FAD72-C97C-4FE0-AE9F-5802144C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147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原图  两只猫</a:t>
            </a:r>
          </a:p>
        </p:txBody>
      </p:sp>
      <p:sp>
        <p:nvSpPr>
          <p:cNvPr id="7" name="原稿  一只主要老虎">
            <a:extLst xmlns:a="http://schemas.openxmlformats.org/drawingml/2006/main">
              <a:ext uri="{FF2B5EF4-FFF2-40B4-BE49-F238E27FC236}">
                <a16:creationId xmlns:a16="http://schemas.microsoft.com/office/drawing/2014/main" id="{5FDEDC6A-2851-4543-A0BA-EFECBC07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147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原稿  一只主要老虎</a:t>
            </a:r>
          </a:p>
        </p:txBody>
      </p:sp>
      <p:sp>
        <p:nvSpPr>
          <p:cNvPr id="8" name="当前  两个目标均生成">
            <a:extLst xmlns:a="http://schemas.openxmlformats.org/drawingml/2006/main">
              <a:ext uri="{FF2B5EF4-FFF2-40B4-BE49-F238E27FC236}">
                <a16:creationId xmlns:a16="http://schemas.microsoft.com/office/drawing/2014/main" id="{32089BE4-2D5F-4E2A-9602-12593E17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147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rPr>
              <a:t>当前  两个目标均生成</a:t>
            </a:r>
          </a:p>
        </p:txBody>
      </p:sp>
      <p:sp>
        <p:nvSpPr>
          <p:cNvPr id="9" name="每个实例单独裁剪，缩放到 512×512 生成，再投影回">
            <a:extLst xmlns:a="http://schemas.openxmlformats.org/drawingml/2006/main">
              <a:ext uri="{FF2B5EF4-FFF2-40B4-BE49-F238E27FC236}">
                <a16:creationId xmlns:a16="http://schemas.microsoft.com/office/drawing/2014/main" id="{2FCC1E63-B83C-4227-A82D-A2CA46BC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82296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每个实例单独裁剪，缩放到 512×512 生成，再投影回原图。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当前案例改善了数量保持，左侧仍有原猫尾部残留和边缘问题。</a:t>
            </a:r>
          </a:p>
        </p:txBody>
      </p:sp>
    </p:spTree>
    <p:extLst>
      <p:ext uri="{BB962C8B-B14F-4D97-AF65-F5344CB8AC3E}">
        <p14:creationId xmlns:p14="http://schemas.microsoft.com/office/powerpoint/2010/main" val="7005832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替换结果检查与有上限重试">
            <a:extLst xmlns:a="http://schemas.openxmlformats.org/drawingml/2006/main">
              <a:ext uri="{FF2B5EF4-FFF2-40B4-BE49-F238E27FC236}">
                <a16:creationId xmlns:a16="http://schemas.microsoft.com/office/drawing/2014/main" id="{9FDAF1FE-2D08-4FA7-9D1D-6DDEBC1C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替换结果检查与有上限重试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7389D8FD-61BA-4DB6-B836-E9871705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8BDEB-0B43-4B2A-88C9-3F3C79022A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2033cf14584b1c"/>
          <a:stretch xmlns:a="http://schemas.openxmlformats.org/drawingml/2006/main"/>
        </p:blipFill>
        <p:spPr>
          <a:xfrm xmlns:a="http://schemas.openxmlformats.org/drawingml/2006/main">
            <a:off x="781916" y="1238250"/>
            <a:ext cx="3255818" cy="22383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50D11-5898-4236-A85A-B0F24BBF07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21b0f9f1645c0"/>
          <a:stretch xmlns:a="http://schemas.openxmlformats.org/drawingml/2006/main"/>
        </p:blipFill>
        <p:spPr>
          <a:xfrm xmlns:a="http://schemas.openxmlformats.org/drawingml/2006/main">
            <a:off x="5106266" y="1238250"/>
            <a:ext cx="3255818" cy="2238375"/>
          </a:xfrm>
          <a:prstGeom xmlns:a="http://schemas.openxmlformats.org/drawingml/2006/main" prst="rect">
            <a:avLst/>
          </a:prstGeom>
        </p:spPr>
      </p:pic>
      <p:sp>
        <p:nvSpPr>
          <p:cNvPr id="5" name="首次生成  新类别未确认">
            <a:extLst xmlns:a="http://schemas.openxmlformats.org/drawingml/2006/main">
              <a:ext uri="{FF2B5EF4-FFF2-40B4-BE49-F238E27FC236}">
                <a16:creationId xmlns:a16="http://schemas.microsoft.com/office/drawing/2014/main" id="{1DA82491-A63F-4AE7-912C-5E2B2823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71875"/>
            <a:ext cx="3905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首次生成  新类别未确认</a:t>
            </a:r>
          </a:p>
        </p:txBody>
      </p:sp>
      <p:sp>
        <p:nvSpPr>
          <p:cNvPr id="6" name="尺度重试后  新类别出现">
            <a:extLst xmlns:a="http://schemas.openxmlformats.org/drawingml/2006/main">
              <a:ext uri="{FF2B5EF4-FFF2-40B4-BE49-F238E27FC236}">
                <a16:creationId xmlns:a16="http://schemas.microsoft.com/office/drawing/2014/main" id="{E1B71AAD-8249-4BDE-901A-47CFEB27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71875"/>
            <a:ext cx="3905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rPr>
              <a:t>尺度重试后  新类别出现</a:t>
            </a:r>
          </a:p>
        </p:txBody>
      </p:sp>
      <p:sp>
        <p:nvSpPr>
          <p:cNvPr id="7" name="一对一匹配原区域与新检测框，只重试未确认区域，最多两轮。">
            <a:extLst xmlns:a="http://schemas.openxmlformats.org/drawingml/2006/main">
              <a:ext uri="{FF2B5EF4-FFF2-40B4-BE49-F238E27FC236}">
                <a16:creationId xmlns:a16="http://schemas.microsoft.com/office/drawing/2014/main" id="{31ADEBCA-E16D-401C-8285-B7517246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822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一对一匹配原区域与新检测框，只重试未确认区域，最多两轮。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确认区域数量增加才接受候选，仍需人工检查形态与完整性。</a:t>
            </a:r>
          </a:p>
        </p:txBody>
      </p:sp>
    </p:spTree>
    <p:extLst>
      <p:ext uri="{BB962C8B-B14F-4D97-AF65-F5344CB8AC3E}">
        <p14:creationId xmlns:p14="http://schemas.microsoft.com/office/powerpoint/2010/main" val="1295875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局部融合与内容保护">
            <a:extLst xmlns:a="http://schemas.openxmlformats.org/drawingml/2006/main">
              <a:ext uri="{FF2B5EF4-FFF2-40B4-BE49-F238E27FC236}">
                <a16:creationId xmlns:a16="http://schemas.microsoft.com/office/drawing/2014/main" id="{A20EB2E2-1EA5-4A05-BC0A-A863491E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局部融合与内容保护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9637C3BE-1960-4D53-BF08-64FAA2E9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3" name="输出 = 原图 × (1 − α) + 编辑候选 × α">
            <a:extLst xmlns:a="http://schemas.openxmlformats.org/drawingml/2006/main">
              <a:ext uri="{FF2B5EF4-FFF2-40B4-BE49-F238E27FC236}">
                <a16:creationId xmlns:a16="http://schemas.microsoft.com/office/drawing/2014/main" id="{FBBFE94A-F807-45C8-83CD-B9B77C42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输出 = 原图 × (1 − α) + 编辑候选 × α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2D903-5508-41BE-AC6D-0B32A1BDAB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55dc7e25e4d12"/>
          <a:stretch xmlns:a="http://schemas.openxmlformats.org/drawingml/2006/main"/>
        </p:blipFill>
        <p:spPr>
          <a:xfrm xmlns:a="http://schemas.openxmlformats.org/drawingml/2006/main">
            <a:off x="457200" y="2110680"/>
            <a:ext cx="2667000" cy="1779389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31110-D9CD-4E33-BB88-1BD2E2FD34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97b02a1b44ef3"/>
          <a:stretch xmlns:a="http://schemas.openxmlformats.org/drawingml/2006/main"/>
        </p:blipFill>
        <p:spPr>
          <a:xfrm xmlns:a="http://schemas.openxmlformats.org/drawingml/2006/main">
            <a:off x="3333750" y="2110680"/>
            <a:ext cx="2667000" cy="1779389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CAC82-FFF2-43AD-AD61-5219949836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8ad73e79a43e5"/>
          <a:stretch xmlns:a="http://schemas.openxmlformats.org/drawingml/2006/main"/>
        </p:blipFill>
        <p:spPr>
          <a:xfrm xmlns:a="http://schemas.openxmlformats.org/drawingml/2006/main">
            <a:off x="6400800" y="2237780"/>
            <a:ext cx="2286000" cy="1525191"/>
          </a:xfrm>
          <a:prstGeom xmlns:a="http://schemas.openxmlformats.org/drawingml/2006/main" prst="rect">
            <a:avLst/>
          </a:prstGeom>
        </p:spPr>
      </p:pic>
      <p:sp>
        <p:nvSpPr>
          <p:cNvPr id="7" name="原图">
            <a:extLst xmlns:a="http://schemas.openxmlformats.org/drawingml/2006/main">
              <a:ext uri="{FF2B5EF4-FFF2-40B4-BE49-F238E27FC236}">
                <a16:creationId xmlns:a16="http://schemas.microsoft.com/office/drawing/2014/main" id="{E49E4BD9-D1C9-4BE3-BCFC-F2D8536F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原图</a:t>
            </a:r>
          </a:p>
        </p:txBody>
      </p:sp>
      <p:sp>
        <p:nvSpPr>
          <p:cNvPr id="8" name="选区及内容物保护">
            <a:extLst xmlns:a="http://schemas.openxmlformats.org/drawingml/2006/main">
              <a:ext uri="{FF2B5EF4-FFF2-40B4-BE49-F238E27FC236}">
                <a16:creationId xmlns:a16="http://schemas.microsoft.com/office/drawing/2014/main" id="{4FDF0911-D082-4814-81DE-4CEEC67A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52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选区及内容物保护</a:t>
            </a:r>
          </a:p>
        </p:txBody>
      </p:sp>
      <p:sp>
        <p:nvSpPr>
          <p:cNvPr id="9" name="改碗色，保留汤色">
            <a:extLst xmlns:a="http://schemas.openxmlformats.org/drawingml/2006/main">
              <a:ext uri="{FF2B5EF4-FFF2-40B4-BE49-F238E27FC236}">
                <a16:creationId xmlns:a16="http://schemas.microsoft.com/office/drawing/2014/main" id="{B60CC710-2969-4D18-856B-57ECDF1F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52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rPr>
              <a:t>改碗色，保留汤色</a:t>
            </a:r>
          </a:p>
        </p:txBody>
      </p:sp>
      <p:sp>
        <p:nvSpPr>
          <p:cNvPr id="10" name="α 为实际融合权重。只有 α=0 的位置严格取原图。掩码">
            <a:extLst xmlns:a="http://schemas.openxmlformats.org/drawingml/2006/main">
              <a:ext uri="{FF2B5EF4-FFF2-40B4-BE49-F238E27FC236}">
                <a16:creationId xmlns:a16="http://schemas.microsoft.com/office/drawing/2014/main" id="{9F07E8DE-8D1C-4987-A701-6744A1AA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α 为实际融合权重。只有 α=0 的位置严格取原图。掩码是否覆盖了正确对象，仍要独立评价。</a:t>
            </a:r>
          </a:p>
        </p:txBody>
      </p:sp>
    </p:spTree>
    <p:extLst>
      <p:ext uri="{BB962C8B-B14F-4D97-AF65-F5344CB8AC3E}">
        <p14:creationId xmlns:p14="http://schemas.microsoft.com/office/powerpoint/2010/main" val="18483503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交互流程与可追踪结果">
            <a:extLst xmlns:a="http://schemas.openxmlformats.org/drawingml/2006/main">
              <a:ext uri="{FF2B5EF4-FFF2-40B4-BE49-F238E27FC236}">
                <a16:creationId xmlns:a16="http://schemas.microsoft.com/office/drawing/2014/main" id="{C8F30A5A-B22C-4017-B807-61AF36C4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交互流程与可追踪结果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11D8A4F0-B9B5-4724-B35B-5198DE9C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43E32-2378-4439-8B48-081AA01CD3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e1cf751fa4645"/>
          <a:stretch xmlns:a="http://schemas.openxmlformats.org/drawingml/2006/main"/>
        </p:blipFill>
        <p:spPr>
          <a:xfrm xmlns:a="http://schemas.openxmlformats.org/drawingml/2006/main">
            <a:off x="457200" y="1204276"/>
            <a:ext cx="5400675" cy="3039748"/>
          </a:xfrm>
          <a:prstGeom xmlns:a="http://schemas.openxmlformats.org/drawingml/2006/main" prst="rect">
            <a:avLst/>
          </a:prstGeom>
        </p:spPr>
      </p:pic>
      <p:sp>
        <p:nvSpPr>
          <p:cNvPr id="4" name="编辑前确认选区">
            <a:extLst xmlns:a="http://schemas.openxmlformats.org/drawingml/2006/main">
              <a:ext uri="{FF2B5EF4-FFF2-40B4-BE49-F238E27FC236}">
                <a16:creationId xmlns:a16="http://schemas.microsoft.com/office/drawing/2014/main" id="{A5FB8633-0F4B-4670-BC70-E00707D8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29540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编辑前确认选区</a:t>
            </a:r>
          </a:p>
        </p:txBody>
      </p:sp>
      <p:sp>
        <p:nvSpPr>
          <p:cNvPr id="5" name="自动识别与人工选区明确分开">
            <a:extLst xmlns:a="http://schemas.openxmlformats.org/drawingml/2006/main">
              <a:ext uri="{FF2B5EF4-FFF2-40B4-BE49-F238E27FC236}">
                <a16:creationId xmlns:a16="http://schemas.microsoft.com/office/drawing/2014/main" id="{19CD533A-077E-429B-AF6B-D2719B55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38300"/>
            <a:ext cx="2533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自动识别与人工选区明确分开</a:t>
            </a:r>
          </a:p>
        </p:txBody>
      </p:sp>
      <p:sp>
        <p:nvSpPr>
          <p:cNvPr id="6" name="输入变化清空旧结果">
            <a:extLst xmlns:a="http://schemas.openxmlformats.org/drawingml/2006/main">
              <a:ext uri="{FF2B5EF4-FFF2-40B4-BE49-F238E27FC236}">
                <a16:creationId xmlns:a16="http://schemas.microsoft.com/office/drawing/2014/main" id="{9A12457F-DB72-4547-9269-FA310DD4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669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输入变化清空旧结果</a:t>
            </a:r>
          </a:p>
        </p:txBody>
      </p:sp>
      <p:sp>
        <p:nvSpPr>
          <p:cNvPr id="7" name="减少旧图、旧掩码混用">
            <a:extLst xmlns:a="http://schemas.openxmlformats.org/drawingml/2006/main">
              <a:ext uri="{FF2B5EF4-FFF2-40B4-BE49-F238E27FC236}">
                <a16:creationId xmlns:a16="http://schemas.microsoft.com/office/drawing/2014/main" id="{E6855FAA-0E27-4F48-B83D-0BCB83F2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09850"/>
            <a:ext cx="2533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减少旧图、旧掩码混用</a:t>
            </a:r>
          </a:p>
        </p:txBody>
      </p:sp>
      <p:sp>
        <p:nvSpPr>
          <p:cNvPr id="8" name="记录参数与候选">
            <a:extLst xmlns:a="http://schemas.openxmlformats.org/drawingml/2006/main">
              <a:ext uri="{FF2B5EF4-FFF2-40B4-BE49-F238E27FC236}">
                <a16:creationId xmlns:a16="http://schemas.microsoft.com/office/drawing/2014/main" id="{53152495-979B-4011-9482-4FFFB799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3850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记录参数与候选</a:t>
            </a:r>
          </a:p>
        </p:txBody>
      </p:sp>
      <p:sp>
        <p:nvSpPr>
          <p:cNvPr id="9" name="支持回看被拒绝的重试结果">
            <a:extLst xmlns:a="http://schemas.openxmlformats.org/drawingml/2006/main">
              <a:ext uri="{FF2B5EF4-FFF2-40B4-BE49-F238E27FC236}">
                <a16:creationId xmlns:a16="http://schemas.microsoft.com/office/drawing/2014/main" id="{1B073ED7-748E-4BE1-B26F-22027074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81400"/>
            <a:ext cx="2533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支持回看被拒绝的重试结果</a:t>
            </a:r>
          </a:p>
        </p:txBody>
      </p:sp>
      <p:sp>
        <p:nvSpPr>
          <p:cNvPr id="10" name="已有示例位于“选择示例图片”折叠区域。手绘或黑白掩码用于">
            <a:extLst xmlns:a="http://schemas.openxmlformats.org/drawingml/2006/main">
              <a:ext uri="{FF2B5EF4-FFF2-40B4-BE49-F238E27FC236}">
                <a16:creationId xmlns:a16="http://schemas.microsoft.com/office/drawing/2014/main" id="{19EBB005-9CBD-468D-B76A-C0DF462A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已有示例位于“选择示例图片”折叠区域。手绘或黑白掩码用于修正自动选择的不足。</a:t>
            </a:r>
          </a:p>
        </p:txBody>
      </p:sp>
    </p:spTree>
    <p:extLst>
      <p:ext uri="{BB962C8B-B14F-4D97-AF65-F5344CB8AC3E}">
        <p14:creationId xmlns:p14="http://schemas.microsoft.com/office/powerpoint/2010/main" val="5109032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实验数据  开发集与预留测试集分开">
            <a:extLst xmlns:a="http://schemas.openxmlformats.org/drawingml/2006/main">
              <a:ext uri="{FF2B5EF4-FFF2-40B4-BE49-F238E27FC236}">
                <a16:creationId xmlns:a16="http://schemas.microsoft.com/office/drawing/2014/main" id="{1DC5CF9A-F10A-4D45-80B3-8EE2B236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实验数据  开发集与预留测试集分开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4E5C117E-09C9-427F-BAC4-77A03B1D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33483-4935-4981-B2CC-FE1884173E65}"/>
              </a:ext>
            </a:extLst>
          </p:cNvPr>
          <p:cNvGraphicFramePr/>
          <p:nvPr/>
        </p:nvGraphicFramePr>
        <p:xfrm>
          <a:off xmlns:a="http://schemas.openxmlformats.org/drawingml/2006/main" x="457200" y="1219200"/>
          <a:ext xmlns:a="http://schemas.openxmlformats.org/drawingml/2006/main" cx="8229600" cy="2771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62100"/>
                <a:gridCol w="2952750"/>
                <a:gridCol w="3714750"/>
              </a:tblGrid>
              <a:tr h="692944">
                <a:tc>
                  <a:txBody>
                    <a:bodyPr lIns="95250" tIns="76200" rIns="85725" bIns="66675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数据部分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数量与任务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当前用途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</a:tr>
              <a:tr h="692944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开发集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张，改色7／删除7／替换6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逐例调试、方法选择、失败分析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2944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其中有独立 GT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 张，COCO 实例标注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 IoU 等区域诊断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692944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预留测试集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120 张，每类任务40张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冻结方法后正式评价，尚未运行生成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每类任务覆盖简单、复杂背景、小目标与多实例场景">
            <a:extLst xmlns:a="http://schemas.openxmlformats.org/drawingml/2006/main">
              <a:ext uri="{FF2B5EF4-FFF2-40B4-BE49-F238E27FC236}">
                <a16:creationId xmlns:a16="http://schemas.microsoft.com/office/drawing/2014/main" id="{A8CD88DB-D395-44FC-B96F-68D7B928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76725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rPr>
              <a:t>每类任务覆盖简单、复杂背景、小目标与多实例场景</a:t>
            </a:r>
          </a:p>
        </p:txBody>
      </p:sp>
      <p:sp>
        <p:nvSpPr>
          <p:cNvPr id="5" name="GT 来自数据集提供者，仍需核对是否符合本项目的编辑目标">
            <a:extLst xmlns:a="http://schemas.openxmlformats.org/drawingml/2006/main">
              <a:ext uri="{FF2B5EF4-FFF2-40B4-BE49-F238E27FC236}">
                <a16:creationId xmlns:a16="http://schemas.microsoft.com/office/drawing/2014/main" id="{C38924FA-3C33-4B23-9C6F-C1F130B5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GT 来自数据集提供者，仍需核对是否符合本项目的编辑目标。测试图不用于选种子或调参。</a:t>
            </a:r>
          </a:p>
        </p:txBody>
      </p:sp>
    </p:spTree>
    <p:extLst>
      <p:ext uri="{BB962C8B-B14F-4D97-AF65-F5344CB8AC3E}">
        <p14:creationId xmlns:p14="http://schemas.microsoft.com/office/powerpoint/2010/main" val="14540250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阶段性诊断  定位与改色分别评价">
            <a:extLst xmlns:a="http://schemas.openxmlformats.org/drawingml/2006/main">
              <a:ext uri="{FF2B5EF4-FFF2-40B4-BE49-F238E27FC236}">
                <a16:creationId xmlns:a16="http://schemas.microsoft.com/office/drawing/2014/main" id="{0354E885-D0B7-4CC4-851B-DF650C3E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阶段性诊断  定位与改色分别评价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25879AD8-324A-4E83-AA81-3837655A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AED77-8171-435B-A079-AAC112A016C1}"/>
              </a:ext>
            </a:extLst>
          </p:cNvPr>
          <p:cNvGraphicFramePr/>
          <p:nvPr/>
        </p:nvGraphicFramePr>
        <p:xfrm>
          <a:off xmlns:a="http://schemas.openxmlformats.org/drawingml/2006/main" x="457200" y="1219200"/>
          <a:ext xmlns:a="http://schemas.openxmlformats.org/drawingml/2006/main" cx="8229600" cy="2924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81225"/>
                <a:gridCol w="1228725"/>
                <a:gridCol w="1400175"/>
                <a:gridCol w="3419475"/>
              </a:tblGrid>
              <a:tr h="584835">
                <a:tc>
                  <a:txBody>
                    <a:bodyPr lIns="95250" tIns="76200" rIns="85725" bIns="66675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原版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第二轮改进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样本范围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</a:tr>
              <a:tr h="584835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平均定位 IoU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0.492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 张独立 GT 开发图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4835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改色明度 MAE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18.85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2.61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同批 5 张 GT 改色图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584835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改色明度相关系数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0.325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0.991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同批 5 张 GT 改色图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4835"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生成流程完成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18/20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20/20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425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张开发图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4" name="以上为第二轮历史开发集结果。定位失败按 IoU 0 纳入">
            <a:extLst xmlns:a="http://schemas.openxmlformats.org/drawingml/2006/main">
              <a:ext uri="{FF2B5EF4-FFF2-40B4-BE49-F238E27FC236}">
                <a16:creationId xmlns:a16="http://schemas.microsoft.com/office/drawing/2014/main" id="{5EDA2E5F-00D5-4D53-9A58-5FF2E06F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71975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以上为第二轮历史开发集结果。定位失败按 IoU 0 纳入。不同模块同时变化，不能据此单独归因或宣称正式测试优势。</a:t>
            </a:r>
          </a:p>
        </p:txBody>
      </p:sp>
    </p:spTree>
    <p:extLst>
      <p:ext uri="{BB962C8B-B14F-4D97-AF65-F5344CB8AC3E}">
        <p14:creationId xmlns:p14="http://schemas.microsoft.com/office/powerpoint/2010/main" val="19778479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当前版本的实际验证与结论边界">
            <a:extLst xmlns:a="http://schemas.openxmlformats.org/drawingml/2006/main">
              <a:ext uri="{FF2B5EF4-FFF2-40B4-BE49-F238E27FC236}">
                <a16:creationId xmlns:a16="http://schemas.microsoft.com/office/drawing/2014/main" id="{7F71FEB0-D37B-4066-AFC3-86B496F7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当前版本的实际验证与结论边界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8BB4EDFF-9951-4004-82F0-A1122A32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89815-1F64-4478-A003-7CBA78BCDEA8}"/>
              </a:ext>
            </a:extLst>
          </p:cNvPr>
          <p:cNvGraphicFramePr/>
          <p:nvPr/>
        </p:nvGraphicFramePr>
        <p:xfrm>
          <a:off xmlns:a="http://schemas.openxmlformats.org/drawingml/2006/main" x="457200" y="1219200"/>
          <a:ext xmlns:a="http://schemas.openxmlformats.org/drawingml/2006/main" cx="82296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24175"/>
                <a:gridCol w="1343025"/>
                <a:gridCol w="3962400"/>
              </a:tblGrid>
              <a:tr h="560070">
                <a:tc>
                  <a:txBody>
                    <a:bodyPr lIns="95250" tIns="76200" rIns="85725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检查项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</a:tr>
              <a:tr h="560070"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真实接口逐例生成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20/20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开发流程完成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输出保持原图尺寸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20/20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尺寸检查通过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560070"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α=0 位置逐像素不变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20/20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限定于实际融合权重为0的区域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回归检查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 项通过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50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程序行为与关键边界条件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4" name="替换任务有 2 例自动提示需复核，仍存在明显失败">
            <a:extLst xmlns:a="http://schemas.openxmlformats.org/drawingml/2006/main">
              <a:ext uri="{FF2B5EF4-FFF2-40B4-BE49-F238E27FC236}">
                <a16:creationId xmlns:a16="http://schemas.microsoft.com/office/drawing/2014/main" id="{256943FA-5321-4D74-9184-C130FF53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38625"/>
            <a:ext cx="8229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rPr>
              <a:t>替换任务有 2 例自动提示需复核，仍存在明显失败</a:t>
            </a:r>
          </a:p>
        </p:txBody>
      </p:sp>
      <p:sp>
        <p:nvSpPr>
          <p:cNvPr id="5" name="流程完成、像素保护和自动检出均不能直接换算成编辑成功率。">
            <a:extLst xmlns:a="http://schemas.openxmlformats.org/drawingml/2006/main">
              <a:ext uri="{FF2B5EF4-FFF2-40B4-BE49-F238E27FC236}">
                <a16:creationId xmlns:a16="http://schemas.microsoft.com/office/drawing/2014/main" id="{115E9673-6D9A-49C4-A234-6EAD7C7A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38675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流程完成、像素保护和自动检出均不能直接换算成编辑成功率。</a:t>
            </a:r>
          </a:p>
        </p:txBody>
      </p:sp>
    </p:spTree>
    <p:extLst>
      <p:ext uri="{BB962C8B-B14F-4D97-AF65-F5344CB8AC3E}">
        <p14:creationId xmlns:p14="http://schemas.microsoft.com/office/powerpoint/2010/main" val="11784901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失败案例与尚未解决的问题">
            <a:extLst xmlns:a="http://schemas.openxmlformats.org/drawingml/2006/main">
              <a:ext uri="{FF2B5EF4-FFF2-40B4-BE49-F238E27FC236}">
                <a16:creationId xmlns:a16="http://schemas.microsoft.com/office/drawing/2014/main" id="{D11BB976-AFD0-449F-9406-897E654A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失败案例与尚未解决的问题</a:t>
            </a:r>
          </a:p>
        </p:txBody>
      </p:sp>
      <p:sp>
        <p:nvSpPr>
          <p:cNvPr id="2" name="18">
            <a:extLst xmlns:a="http://schemas.openxmlformats.org/drawingml/2006/main">
              <a:ext uri="{FF2B5EF4-FFF2-40B4-BE49-F238E27FC236}">
                <a16:creationId xmlns:a16="http://schemas.microsoft.com/office/drawing/2014/main" id="{0E59D472-FF47-4210-BC73-49B4C0DD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EE58B-5310-42D0-840F-5B7DE8D8E5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d1d4df877453e"/>
          <a:stretch xmlns:a="http://schemas.openxmlformats.org/drawingml/2006/main"/>
        </p:blipFill>
        <p:spPr>
          <a:xfrm xmlns:a="http://schemas.openxmlformats.org/drawingml/2006/main">
            <a:off x="1482551" y="1162050"/>
            <a:ext cx="1806922" cy="271462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75867-7D77-4A56-9F4F-C4CCE749BD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239563b304cea"/>
          <a:stretch xmlns:a="http://schemas.openxmlformats.org/drawingml/2006/main"/>
        </p:blipFill>
        <p:spPr>
          <a:xfrm xmlns:a="http://schemas.openxmlformats.org/drawingml/2006/main">
            <a:off x="5858768" y="1162050"/>
            <a:ext cx="1798439" cy="2714625"/>
          </a:xfrm>
          <a:prstGeom xmlns:a="http://schemas.openxmlformats.org/drawingml/2006/main" prst="rect">
            <a:avLst/>
          </a:prstGeom>
        </p:spPr>
      </p:pic>
      <p:sp>
        <p:nvSpPr>
          <p:cNvPr id="5" name="密集杯子换碗  5 区中仅 3 区确认">
            <a:extLst xmlns:a="http://schemas.openxmlformats.org/drawingml/2006/main">
              <a:ext uri="{FF2B5EF4-FFF2-40B4-BE49-F238E27FC236}">
                <a16:creationId xmlns:a16="http://schemas.microsoft.com/office/drawing/2014/main" id="{3797F701-6233-4FFA-AA95-0B6FD3C2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62400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rPr>
              <a:t>密集杯子换碗  5 区中仅 3 区确认</a:t>
            </a:r>
          </a:p>
        </p:txBody>
      </p:sp>
      <p:sp>
        <p:nvSpPr>
          <p:cNvPr id="6" name="远处动物  漏换与不自然头部">
            <a:extLst xmlns:a="http://schemas.openxmlformats.org/drawingml/2006/main">
              <a:ext uri="{FF2B5EF4-FFF2-40B4-BE49-F238E27FC236}">
                <a16:creationId xmlns:a16="http://schemas.microsoft.com/office/drawing/2014/main" id="{4B43ACB7-C921-40BA-AAB0-EA92AD1C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962400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rPr>
              <a:t>远处动物  漏换与不自然头部</a:t>
            </a:r>
          </a:p>
        </p:txBody>
      </p:sp>
      <p:sp>
        <p:nvSpPr>
          <p:cNvPr id="7" name="主要困难：小目标与遮挡、源选区误检、透明材质，以及删除支">
            <a:extLst xmlns:a="http://schemas.openxmlformats.org/drawingml/2006/main">
              <a:ext uri="{FF2B5EF4-FFF2-40B4-BE49-F238E27FC236}">
                <a16:creationId xmlns:a16="http://schemas.microsoft.com/office/drawing/2014/main" id="{16FFC914-A758-4BA7-B9E6-7F36BDBD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主要困难：小目标与遮挡、源选区误检、透明材质，以及删除支撑物后的场景关系重建。</a:t>
            </a:r>
          </a:p>
        </p:txBody>
      </p:sp>
    </p:spTree>
    <p:extLst>
      <p:ext uri="{BB962C8B-B14F-4D97-AF65-F5344CB8AC3E}">
        <p14:creationId xmlns:p14="http://schemas.microsoft.com/office/powerpoint/2010/main" val="1237814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大创项目的创新切入点与已有方法边界">
            <a:extLst xmlns:a="http://schemas.openxmlformats.org/drawingml/2006/main">
              <a:ext uri="{FF2B5EF4-FFF2-40B4-BE49-F238E27FC236}">
                <a16:creationId xmlns:a16="http://schemas.microsoft.com/office/drawing/2014/main" id="{B6E62297-54E7-447F-8FBE-26FA70D7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大创项目的创新切入点与已有方法边界</a:t>
            </a:r>
          </a:p>
        </p:txBody>
      </p:sp>
      <p:sp>
        <p:nvSpPr>
          <p:cNvPr id="2" name="19">
            <a:extLst xmlns:a="http://schemas.openxmlformats.org/drawingml/2006/main">
              <a:ext uri="{FF2B5EF4-FFF2-40B4-BE49-F238E27FC236}">
                <a16:creationId xmlns:a16="http://schemas.microsoft.com/office/drawing/2014/main" id="{DD4D0D5E-53BE-4D32-B46B-B4D78625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41B44-8D5C-4909-BD62-69AE44B874B1}"/>
              </a:ext>
            </a:extLst>
          </p:cNvPr>
          <p:cNvGraphicFramePr/>
          <p:nvPr/>
        </p:nvGraphicFramePr>
        <p:xfrm>
          <a:off xmlns:a="http://schemas.openxmlformats.org/drawingml/2006/main" x="457200" y="1238250"/>
          <a:ext xmlns:a="http://schemas.openxmlformats.org/drawingml/2006/main" cx="8229600" cy="2705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476625"/>
                <a:gridCol w="3324225"/>
              </a:tblGrid>
              <a:tr h="676275"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切入点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本项目的具体设计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</a:tr>
              <a:tr h="676275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多实例局部编辑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逐实例裁剪，区域对应检查，失败区域重试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最值得深化，需要消融和独立验证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任务分流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颜色变换、背景修补和生成替换分开处理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属于系统方法与应用改进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676275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非目标内容保护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内容物扣除，主色条件下保护饰边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依赖检测与规则，尚非通用保证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基础模型组合已有研究，项目贡献需要落在具体设计与实验证据">
            <a:extLst xmlns:a="http://schemas.openxmlformats.org/drawingml/2006/main">
              <a:ext uri="{FF2B5EF4-FFF2-40B4-BE49-F238E27FC236}">
                <a16:creationId xmlns:a16="http://schemas.microsoft.com/office/drawing/2014/main" id="{3927634D-0648-46EC-9357-F91C73C0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6848"/>
                </a:solidFill>
                <a:latin typeface="Microsoft YaHei"/>
                <a:ea typeface="Microsoft YaHei"/>
                <a:cs typeface="Microsoft YaHei"/>
              </a:rPr>
              <a:t>基础模型组合已有研究，项目贡献需要落在具体设计与实验证据上</a:t>
            </a:r>
          </a:p>
        </p:txBody>
      </p:sp>
    </p:spTree>
    <p:extLst>
      <p:ext uri="{BB962C8B-B14F-4D97-AF65-F5344CB8AC3E}">
        <p14:creationId xmlns:p14="http://schemas.microsoft.com/office/powerpoint/2010/main" val="18028854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后续实验  系统对照与单模块消融分开">
            <a:extLst xmlns:a="http://schemas.openxmlformats.org/drawingml/2006/main">
              <a:ext uri="{FF2B5EF4-FFF2-40B4-BE49-F238E27FC236}">
                <a16:creationId xmlns:a16="http://schemas.microsoft.com/office/drawing/2014/main" id="{4CAA1296-62DC-46A9-9518-C75E1BDD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后续实验  系统对照与单模块消融分开</a:t>
            </a:r>
          </a:p>
        </p:txBody>
      </p:sp>
      <p:sp>
        <p:nvSpPr>
          <p:cNvPr id="2" name="20">
            <a:extLst xmlns:a="http://schemas.openxmlformats.org/drawingml/2006/main">
              <a:ext uri="{FF2B5EF4-FFF2-40B4-BE49-F238E27FC236}">
                <a16:creationId xmlns:a16="http://schemas.microsoft.com/office/drawing/2014/main" id="{E39C6132-33EE-4D06-AACD-93C8B7AB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9C237-B684-49CE-AC5C-F7A0DFC2B94D}"/>
              </a:ext>
            </a:extLst>
          </p:cNvPr>
          <p:cNvGraphicFramePr/>
          <p:nvPr/>
        </p:nvGraphicFramePr>
        <p:xfrm>
          <a:off xmlns:a="http://schemas.openxmlformats.org/drawingml/2006/main" x="457200" y="1200150"/>
          <a:ext xmlns:a="http://schemas.openxmlformats.org/drawingml/2006/main" cx="82296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3381375"/>
                <a:gridCol w="3514725"/>
              </a:tblGrid>
              <a:tr h="571500"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保持一致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观察差异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</a:tr>
              <a:tr h="571500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系统对照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同图、同指令、相同评价区域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原版、IP2P、当前系统的整体差异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选区对照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同一编辑引擎和输入尺度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CLIPSeg 与 DINO + SAM 的定位影响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571500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替换消融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同一选区、提示词与种子方案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整图处理、实例裁剪、检查重试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内容保护消融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同一原图、目标和改色设置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有无保护对内容物误改的影响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4" name="正式实验计划：纳入失败样本，记录重试次数与耗时，按图片做">
            <a:extLst xmlns:a="http://schemas.openxmlformats.org/drawingml/2006/main">
              <a:ext uri="{FF2B5EF4-FFF2-40B4-BE49-F238E27FC236}">
                <a16:creationId xmlns:a16="http://schemas.microsoft.com/office/drawing/2014/main" id="{F9EC180B-5434-4293-9A8D-C1C7585F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62450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正式实验计划：纳入失败样本，记录重试次数与耗时，按图片做配对统计；多种子作为同一图的重复测量。</a:t>
            </a:r>
          </a:p>
        </p:txBody>
      </p:sp>
    </p:spTree>
    <p:extLst>
      <p:ext uri="{BB962C8B-B14F-4D97-AF65-F5344CB8AC3E}">
        <p14:creationId xmlns:p14="http://schemas.microsoft.com/office/powerpoint/2010/main" val="3117585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后续研究安排">
            <a:extLst xmlns:a="http://schemas.openxmlformats.org/drawingml/2006/main">
              <a:ext uri="{FF2B5EF4-FFF2-40B4-BE49-F238E27FC236}">
                <a16:creationId xmlns:a16="http://schemas.microsoft.com/office/drawing/2014/main" id="{7ADC936E-049F-4BAA-8B62-2E25B23B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后续研究安排</a:t>
            </a:r>
          </a:p>
        </p:txBody>
      </p:sp>
      <p:sp>
        <p:nvSpPr>
          <p:cNvPr id="2" name="21">
            <a:extLst xmlns:a="http://schemas.openxmlformats.org/drawingml/2006/main">
              <a:ext uri="{FF2B5EF4-FFF2-40B4-BE49-F238E27FC236}">
                <a16:creationId xmlns:a16="http://schemas.microsoft.com/office/drawing/2014/main" id="{8086B6EA-BD6E-4E04-94F1-E72CB32B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8FC62-A78D-47E7-B09A-1C44D398CB46}"/>
              </a:ext>
            </a:extLst>
          </p:cNvPr>
          <p:cNvGraphicFramePr/>
          <p:nvPr/>
        </p:nvGraphicFramePr>
        <p:xfrm>
          <a:off xmlns:a="http://schemas.openxmlformats.org/drawingml/2006/main" x="457200" y="1228725"/>
          <a:ext xmlns:a="http://schemas.openxmlformats.org/drawingml/2006/main" cx="8229600" cy="3057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47850"/>
                <a:gridCol w="3314700"/>
                <a:gridCol w="3067050"/>
              </a:tblGrid>
              <a:tr h="611505"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重点任务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验收产出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</a:tr>
              <a:tr h="611505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2026.10–11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复核任务定义，完成开发集消融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标注规范、消融表、完整失败记录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2026.12–2027.01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冻结版本，完成预留测试与中期准备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测试结果、独立评审与中期材料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611505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2027.02–04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改进难例与交互，评估研究扩展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有证据支持的改进或否定结论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2027.05–10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补充多场景验证，整理成果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复现包、结题报告，按条件推进成果申请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4" name="保留原稿的中期与结题节奏，以上为建议安排，具体节点按学校">
            <a:extLst xmlns:a="http://schemas.openxmlformats.org/drawingml/2006/main">
              <a:ext uri="{FF2B5EF4-FFF2-40B4-BE49-F238E27FC236}">
                <a16:creationId xmlns:a16="http://schemas.microsoft.com/office/drawing/2014/main" id="{F0E6B9B5-E945-4BB2-9F4C-70FBFA14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保留原稿的中期与结题节奏，以上为建议安排，具体节点按学校要求调整。DiffEdit 等作为候选扩展，尚未复现。</a:t>
            </a:r>
          </a:p>
        </p:txBody>
      </p:sp>
    </p:spTree>
    <p:extLst>
      <p:ext uri="{BB962C8B-B14F-4D97-AF65-F5344CB8AC3E}">
        <p14:creationId xmlns:p14="http://schemas.microsoft.com/office/powerpoint/2010/main" val="75475780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五人分工建议与交叉验收">
            <a:extLst xmlns:a="http://schemas.openxmlformats.org/drawingml/2006/main">
              <a:ext uri="{FF2B5EF4-FFF2-40B4-BE49-F238E27FC236}">
                <a16:creationId xmlns:a16="http://schemas.microsoft.com/office/drawing/2014/main" id="{0607709B-BABC-4D44-9AD9-EA1BCDF9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五人分工建议与交叉验收</a:t>
            </a:r>
          </a:p>
        </p:txBody>
      </p:sp>
      <p:sp>
        <p:nvSpPr>
          <p:cNvPr id="2" name="22">
            <a:extLst xmlns:a="http://schemas.openxmlformats.org/drawingml/2006/main">
              <a:ext uri="{FF2B5EF4-FFF2-40B4-BE49-F238E27FC236}">
                <a16:creationId xmlns:a16="http://schemas.microsoft.com/office/drawing/2014/main" id="{98EE1728-3794-4070-927F-5B348EBB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D73A4-C880-4CAD-8168-080D9075ED52}"/>
              </a:ext>
            </a:extLst>
          </p:cNvPr>
          <p:cNvGraphicFramePr/>
          <p:nvPr/>
        </p:nvGraphicFramePr>
        <p:xfrm>
          <a:off xmlns:a="http://schemas.openxmlformats.org/drawingml/2006/main" x="457200" y="1143000"/>
          <a:ext xmlns:a="http://schemas.openxmlformats.org/drawingml/2006/main" cx="8229600" cy="3248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23925"/>
                <a:gridCol w="2609850"/>
                <a:gridCol w="4695825"/>
              </a:tblGrid>
              <a:tr h="541338"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主责方向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主要交付物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</a:tr>
              <a:tr h="541338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成员A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研究统筹与指令解析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问题定义、词表与解析测试、文献对照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338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成员B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自动选区与内容保护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实例掩码、GT 对照、误选分析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541338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成员C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编辑引擎与局部重试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三类编辑、候选记录、替换消融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1338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成员D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网页交互与系统集成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选区切换、状态校验、可复现演示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541338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成员E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数据与独立评价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数据划分、评分规范、统计与失败集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–E 为角色占位。各模块交付后由非该模块作者交叉检查，">
            <a:extLst xmlns:a="http://schemas.openxmlformats.org/drawingml/2006/main">
              <a:ext uri="{FF2B5EF4-FFF2-40B4-BE49-F238E27FC236}">
                <a16:creationId xmlns:a16="http://schemas.microsoft.com/office/drawing/2014/main" id="{ADAB38A5-D61C-4AE8-83DF-38A87DF7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A–E 为角色占位。各模块交付后由非该模块作者交叉检查，结果汇总由全员共同确认。</a:t>
            </a:r>
          </a:p>
        </p:txBody>
      </p:sp>
    </p:spTree>
    <p:extLst>
      <p:ext uri="{BB962C8B-B14F-4D97-AF65-F5344CB8AC3E}">
        <p14:creationId xmlns:p14="http://schemas.microsoft.com/office/powerpoint/2010/main" val="1615028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4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阶段总结与下一步验证重点">
            <a:extLst xmlns:a="http://schemas.openxmlformats.org/drawingml/2006/main">
              <a:ext uri="{FF2B5EF4-FFF2-40B4-BE49-F238E27FC236}">
                <a16:creationId xmlns:a16="http://schemas.microsoft.com/office/drawing/2014/main" id="{8C660E89-8D9A-4DD8-A3D3-1AB89F83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阶段总结与下一步验证重点</a:t>
            </a:r>
          </a:p>
        </p:txBody>
      </p:sp>
      <p:sp>
        <p:nvSpPr>
          <p:cNvPr id="2" name="23">
            <a:extLst xmlns:a="http://schemas.openxmlformats.org/drawingml/2006/main">
              <a:ext uri="{FF2B5EF4-FFF2-40B4-BE49-F238E27FC236}">
                <a16:creationId xmlns:a16="http://schemas.microsoft.com/office/drawing/2014/main" id="{AF633B50-BE0B-4E2B-A8FA-2EBE67BE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3" name="已经形成可运行的三类局部编辑流程">
            <a:extLst xmlns:a="http://schemas.openxmlformats.org/drawingml/2006/main">
              <a:ext uri="{FF2B5EF4-FFF2-40B4-BE49-F238E27FC236}">
                <a16:creationId xmlns:a16="http://schemas.microsoft.com/office/drawing/2014/main" id="{EE3FF889-250C-4B34-A219-DD47857E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52550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已经形成可运行的三类局部编辑流程</a:t>
            </a:r>
          </a:p>
        </p:txBody>
      </p:sp>
      <p:sp>
        <p:nvSpPr>
          <p:cNvPr id="4" name="多实例处理和局部重试改善了部分开发案例&#10;非目标保护仍受选">
            <a:extLst xmlns:a="http://schemas.openxmlformats.org/drawingml/2006/main">
              <a:ext uri="{FF2B5EF4-FFF2-40B4-BE49-F238E27FC236}">
                <a16:creationId xmlns:a16="http://schemas.microsoft.com/office/drawing/2014/main" id="{F7594CF3-0CF4-4E21-A268-CB547BDC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00275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rPr>
              <a:t>多实例处理和局部重试改善了部分开发案例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9D3E6"/>
                </a:solidFill>
                <a:latin typeface="Microsoft YaHei"/>
                <a:ea typeface="Microsoft YaHei"/>
                <a:cs typeface="Microsoft YaHei"/>
              </a:rPr>
              <a:t>非目标保护仍受选区准确性与场景关系限制</a:t>
            </a:r>
          </a:p>
        </p:txBody>
      </p:sp>
      <p:sp>
        <p:nvSpPr>
          <p:cNvPr id="5" name="下一步  冻结方案并完成独立测试与消融实验">
            <a:extLst xmlns:a="http://schemas.openxmlformats.org/drawingml/2006/main">
              <a:ext uri="{FF2B5EF4-FFF2-40B4-BE49-F238E27FC236}">
                <a16:creationId xmlns:a16="http://schemas.microsoft.com/office/drawing/2014/main" id="{5757A5E1-0BB2-4FD0-9AFF-99FA8F0E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33775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FF9C8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FF9C8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FF9C8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FF9C8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FF9C8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FF9C8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FF9C8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FF9C8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FF9C8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FF9C8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F9C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9C83"/>
                </a:solidFill>
                <a:latin typeface="Microsoft YaHei"/>
                <a:ea typeface="Microsoft YaHei"/>
                <a:cs typeface="Microsoft YaHei"/>
              </a:rPr>
              <a:t>下一步  冻结方案并完成独立测试与消融实验</a:t>
            </a:r>
          </a:p>
        </p:txBody>
      </p:sp>
    </p:spTree>
    <p:extLst>
      <p:ext uri="{BB962C8B-B14F-4D97-AF65-F5344CB8AC3E}">
        <p14:creationId xmlns:p14="http://schemas.microsoft.com/office/powerpoint/2010/main" val="94236063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备答  各项指标回答不同问题">
            <a:extLst xmlns:a="http://schemas.openxmlformats.org/drawingml/2006/main">
              <a:ext uri="{FF2B5EF4-FFF2-40B4-BE49-F238E27FC236}">
                <a16:creationId xmlns:a16="http://schemas.microsoft.com/office/drawing/2014/main" id="{C081F9EB-1A0E-48A4-8C47-DE6758B0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备答  各项指标回答不同问题</a:t>
            </a:r>
          </a:p>
        </p:txBody>
      </p:sp>
      <p:sp>
        <p:nvSpPr>
          <p:cNvPr id="2" name="24">
            <a:extLst xmlns:a="http://schemas.openxmlformats.org/drawingml/2006/main">
              <a:ext uri="{FF2B5EF4-FFF2-40B4-BE49-F238E27FC236}">
                <a16:creationId xmlns:a16="http://schemas.microsoft.com/office/drawing/2014/main" id="{F13C44C2-9029-4D49-AF57-57701120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360B5-90AE-4A4B-8F2A-03AAFD646F5B}"/>
              </a:ext>
            </a:extLst>
          </p:cNvPr>
          <p:cNvGraphicFramePr/>
          <p:nvPr/>
        </p:nvGraphicFramePr>
        <p:xfrm>
          <a:off xmlns:a="http://schemas.openxmlformats.org/drawingml/2006/main" x="457200" y="1200150"/>
          <a:ext xmlns:a="http://schemas.openxmlformats.org/drawingml/2006/main" cx="82296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38325"/>
                <a:gridCol w="3086100"/>
                <a:gridCol w="3305175"/>
              </a:tblGrid>
              <a:tr h="594360"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回答的问题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不能直接证明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</a:tr>
              <a:tr h="594360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 GT 的 IoU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目标区域选得是否准确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生成后的对象是否自然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CLIP 文图相似度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整体图像与描述是否接近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精确数量、细小属性与完整删除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594360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背景 PSNR／LPIPS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约定非目标区域是否变化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目标编辑已成功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任务评分与实例匹配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改色、删除、替换的实际完成度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仅凭同一检测器不能独立验收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4" name="评价区域优先使用独立任务标注，并单独检查边界。PSNR ">
            <a:extLst xmlns:a="http://schemas.openxmlformats.org/drawingml/2006/main">
              <a:ext uri="{FF2B5EF4-FFF2-40B4-BE49-F238E27FC236}">
                <a16:creationId xmlns:a16="http://schemas.microsoft.com/office/drawing/2014/main" id="{67282ABF-542E-4A7C-ABC3-71B62818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评价区域优先使用独立任务标注，并单独检查边界。PSNR 零误差时应记录为无穷大。</a:t>
            </a:r>
          </a:p>
        </p:txBody>
      </p:sp>
    </p:spTree>
    <p:extLst>
      <p:ext uri="{BB962C8B-B14F-4D97-AF65-F5344CB8AC3E}">
        <p14:creationId xmlns:p14="http://schemas.microsoft.com/office/powerpoint/2010/main" val="16719960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备答  替换重试的实际规则">
            <a:extLst xmlns:a="http://schemas.openxmlformats.org/drawingml/2006/main">
              <a:ext uri="{FF2B5EF4-FFF2-40B4-BE49-F238E27FC236}">
                <a16:creationId xmlns:a16="http://schemas.microsoft.com/office/drawing/2014/main" id="{67176A9E-6610-418C-9929-35DD0BFB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备答  替换重试的实际规则</a:t>
            </a:r>
          </a:p>
        </p:txBody>
      </p:sp>
      <p:sp>
        <p:nvSpPr>
          <p:cNvPr id="2" name="25">
            <a:extLst xmlns:a="http://schemas.openxmlformats.org/drawingml/2006/main">
              <a:ext uri="{FF2B5EF4-FFF2-40B4-BE49-F238E27FC236}">
                <a16:creationId xmlns:a16="http://schemas.microsoft.com/office/drawing/2014/main" id="{3FD39DB8-6D53-4EA7-AB23-870857DB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3" name="区域匹配">
            <a:extLst xmlns:a="http://schemas.openxmlformats.org/drawingml/2006/main">
              <a:ext uri="{FF2B5EF4-FFF2-40B4-BE49-F238E27FC236}">
                <a16:creationId xmlns:a16="http://schemas.microsoft.com/office/drawing/2014/main" id="{EA83DB91-14FE-4769-B664-3F70C8F4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区域匹配</a:t>
            </a:r>
          </a:p>
        </p:txBody>
      </p:sp>
      <p:sp>
        <p:nvSpPr>
          <p:cNvPr id="4" name="新类别检测框与原实例框按 IoU≥0.15 贪心一对一匹">
            <a:extLst xmlns:a="http://schemas.openxmlformats.org/drawingml/2006/main">
              <a:ext uri="{FF2B5EF4-FFF2-40B4-BE49-F238E27FC236}">
                <a16:creationId xmlns:a16="http://schemas.microsoft.com/office/drawing/2014/main" id="{BB3E58E3-3D00-469A-8C3A-6D087960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新类别检测框与原实例框按 IoU≥0.15 贪心一对一匹配</a:t>
            </a:r>
          </a:p>
        </p:txBody>
      </p:sp>
      <p:sp>
        <p:nvSpPr>
          <p:cNvPr id="5" name="有上限重试">
            <a:extLst xmlns:a="http://schemas.openxmlformats.org/drawingml/2006/main">
              <a:ext uri="{FF2B5EF4-FFF2-40B4-BE49-F238E27FC236}">
                <a16:creationId xmlns:a16="http://schemas.microsoft.com/office/drawing/2014/main" id="{32FD9BBB-D79F-4757-9A2E-5CDF79BC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有上限重试</a:t>
            </a:r>
          </a:p>
        </p:txBody>
      </p:sp>
      <p:sp>
        <p:nvSpPr>
          <p:cNvPr id="6" name="只处理未确认区域，最多追加两轮，种子与参数落盘">
            <a:extLst xmlns:a="http://schemas.openxmlformats.org/drawingml/2006/main">
              <a:ext uri="{FF2B5EF4-FFF2-40B4-BE49-F238E27FC236}">
                <a16:creationId xmlns:a16="http://schemas.microsoft.com/office/drawing/2014/main" id="{CFED684A-58F9-4B14-B1F5-F42C4B65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57425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只处理未确认区域，最多追加两轮，种子与参数落盘</a:t>
            </a:r>
          </a:p>
        </p:txBody>
      </p:sp>
      <p:sp>
        <p:nvSpPr>
          <p:cNvPr id="7" name="候选接受">
            <a:extLst xmlns:a="http://schemas.openxmlformats.org/drawingml/2006/main">
              <a:ext uri="{FF2B5EF4-FFF2-40B4-BE49-F238E27FC236}">
                <a16:creationId xmlns:a16="http://schemas.microsoft.com/office/drawing/2014/main" id="{F2075D8E-5C6B-492B-9BFB-38EA6A7E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候选接受</a:t>
            </a:r>
          </a:p>
        </p:txBody>
      </p:sp>
      <p:sp>
        <p:nvSpPr>
          <p:cNvPr id="8" name="确认区域总数严格增加才接受，否则保留已有结果">
            <a:extLst xmlns:a="http://schemas.openxmlformats.org/drawingml/2006/main">
              <a:ext uri="{FF2B5EF4-FFF2-40B4-BE49-F238E27FC236}">
                <a16:creationId xmlns:a16="http://schemas.microsoft.com/office/drawing/2014/main" id="{8A84BBA1-7537-421B-800A-B0402CEA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确认区域总数严格增加才接受，否则保留已有结果</a:t>
            </a:r>
          </a:p>
        </p:txBody>
      </p:sp>
      <p:sp>
        <p:nvSpPr>
          <p:cNvPr id="9" name="仍有风险">
            <a:extLst xmlns:a="http://schemas.openxmlformats.org/drawingml/2006/main">
              <a:ext uri="{FF2B5EF4-FFF2-40B4-BE49-F238E27FC236}">
                <a16:creationId xmlns:a16="http://schemas.microsoft.com/office/drawing/2014/main" id="{0BA53BAF-FEB4-4B4B-83EE-03759D5C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822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仍有风险</a:t>
            </a:r>
          </a:p>
        </p:txBody>
      </p:sp>
      <p:sp>
        <p:nvSpPr>
          <p:cNvPr id="10" name="框匹配只作诊断，检测误报、重叠区域和形态问题需复核">
            <a:extLst xmlns:a="http://schemas.openxmlformats.org/drawingml/2006/main">
              <a:ext uri="{FF2B5EF4-FFF2-40B4-BE49-F238E27FC236}">
                <a16:creationId xmlns:a16="http://schemas.microsoft.com/office/drawing/2014/main" id="{B9E0F128-A0FA-46F7-BA72-CFE789AF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6675"/>
            <a:ext cx="822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框匹配只作诊断，检测误报、重叠区域和形态问题需复核</a:t>
            </a:r>
          </a:p>
        </p:txBody>
      </p:sp>
    </p:spTree>
    <p:extLst>
      <p:ext uri="{BB962C8B-B14F-4D97-AF65-F5344CB8AC3E}">
        <p14:creationId xmlns:p14="http://schemas.microsoft.com/office/powerpoint/2010/main" val="11944376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备答  主要相关研究与技术来源">
            <a:extLst xmlns:a="http://schemas.openxmlformats.org/drawingml/2006/main">
              <a:ext uri="{FF2B5EF4-FFF2-40B4-BE49-F238E27FC236}">
                <a16:creationId xmlns:a16="http://schemas.microsoft.com/office/drawing/2014/main" id="{BCA74F7D-8702-4AE5-9EBC-7D349EAC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822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1B2D"/>
                </a:solidFill>
                <a:latin typeface="Microsoft YaHei"/>
                <a:ea typeface="Microsoft YaHei"/>
                <a:cs typeface="Microsoft YaHei"/>
              </a:rPr>
              <a:t>备答  主要相关研究与技术来源</a:t>
            </a:r>
          </a:p>
        </p:txBody>
      </p:sp>
      <p:sp>
        <p:nvSpPr>
          <p:cNvPr id="2" name="26">
            <a:extLst xmlns:a="http://schemas.openxmlformats.org/drawingml/2006/main">
              <a:ext uri="{FF2B5EF4-FFF2-40B4-BE49-F238E27FC236}">
                <a16:creationId xmlns:a16="http://schemas.microsoft.com/office/drawing/2014/main" id="{2BA57F8F-7A66-4AA9-98E8-FCA026C1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77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F62BE-FAA5-42AC-8DAD-F29F57FF403D}"/>
              </a:ext>
            </a:extLst>
          </p:cNvPr>
          <p:cNvGraphicFramePr/>
          <p:nvPr/>
        </p:nvGraphicFramePr>
        <p:xfrm>
          <a:off xmlns:a="http://schemas.openxmlformats.org/drawingml/2006/main" x="457200" y="1104900"/>
          <a:ext xmlns:a="http://schemas.openxmlformats.org/drawingml/2006/main" cx="8229600" cy="3219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4943475"/>
              </a:tblGrid>
              <a:tr h="459921"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已有研究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与本项目的关系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T w="7620">
                      <a:solidFill>
                        <a:srgbClr val="CCD5E4"/>
                      </a:solidFill>
                      <a:prstDash val="solid"/>
                    </a:lnT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141B2D"/>
                    </a:solidFill>
                  </a:tcPr>
                </a:tc>
              </a:tr>
              <a:tr h="459921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CLIPSeg  CVPR 2022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原型的文本引导选区方法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9921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Grounding DINO／SAM  2023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当前文本检测与框提示分割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459921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Grounded SAM  2024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检测、分割与扩散编辑组合的已有先例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9921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InstructPix2Pix  CVPR 2023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指令式全图编辑基线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459921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LaMa  WACV 2022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删除任务使用的已有修补模型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9921"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CompAgent  2024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CCD5E4"/>
                      </a:solidFill>
                      <a:prstDash val="solid"/>
                    </a:lnL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 lIns="95250" tIns="76200" rIns="85725" bIns="66675"/>
                    <a:lstStyle/>
                    <a:p>
                      <a:r>
                        <a:rPr sz="1350" b="0">
                          <a:solidFill>
                            <a:srgbClr val="1921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相关的验证与局部纠错思路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CCD5E4"/>
                      </a:solidFill>
                      <a:prstDash val="solid"/>
                    </a:lnR>
                    <a:lnB w="7620">
                      <a:solidFill>
                        <a:srgbClr val="CCD5E4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4" name="原论文与实现链接见各页演讲者备注。DiffEdit 为候">
            <a:extLst xmlns:a="http://schemas.openxmlformats.org/drawingml/2006/main">
              <a:ext uri="{FF2B5EF4-FFF2-40B4-BE49-F238E27FC236}">
                <a16:creationId xmlns:a16="http://schemas.microsoft.com/office/drawing/2014/main" id="{71C27CFE-0051-4F10-A095-E91F3B35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82296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36685"/>
                </a:solidFill>
                <a:latin typeface="Microsoft YaHei"/>
                <a:ea typeface="Microsoft YaHei"/>
                <a:cs typeface="Microsoft YaHei"/>
              </a:rPr>
              <a:t>原论文与实现链接见各页演讲者备注。DiffEdit 为候选对照，当前材料没有声称已经复现。</a:t>
            </a:r>
          </a:p>
        </p:txBody>
      </p:sp>
    </p:spTree>
    <p:extLst>
      <p:ext uri="{BB962C8B-B14F-4D97-AF65-F5344CB8AC3E}">
        <p14:creationId xmlns:p14="http://schemas.microsoft.com/office/powerpoint/2010/main" val="604576981"/>
      </p:ext>
    </p:extLst>
  </p:cSld>
</p:sld>
</file>

<file path=ppt/theme/theme1.xml><?xml version="1.0" encoding="utf-8"?>
<a:theme xmlns:a="http://schemas.openxmlformats.org/drawingml/2006/main" name="ImageEdit">
  <a:themeElements>
    <a:clrScheme name="ImageEdit">
      <a:dk1>
        <a:srgbClr val="1A2033"/>
      </a:dk1>
      <a:lt1>
        <a:srgbClr val="FFFFFF"/>
      </a:lt1>
      <a:dk2>
        <a:srgbClr val="141B2D"/>
      </a:dk2>
      <a:lt2>
        <a:srgbClr val="EEF2F8"/>
      </a:lt2>
      <a:accent1>
        <a:srgbClr val="FF6B4A"/>
      </a:accent1>
      <a:accent2>
        <a:srgbClr val="2EC4B6"/>
      </a:accent2>
      <a:accent3>
        <a:srgbClr val="5B6B8C"/>
      </a:accent3>
      <a:accent4>
        <a:srgbClr val="FFB547"/>
      </a:accent4>
      <a:accent5>
        <a:srgbClr val="8E9AB5"/>
      </a:accent5>
      <a:accent6>
        <a:srgbClr val="C9D3E6"/>
      </a:accent6>
      <a:hlink>
        <a:srgbClr val="2EC4B6"/>
      </a:hlink>
      <a:folHlink>
        <a:srgbClr val="5B6B8C"/>
      </a:folHlink>
    </a:clrScheme>
    <a:fontScheme name="ImageEdit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ImageEdi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2026-10-18T16:30:36.8580000Z</dcterms:created>
  <dcterms:modified xsi:type="dcterms:W3CDTF">2026-10-18T16:30:36.8590000Z</dcterms:modified>
</coreProperties>
</file>